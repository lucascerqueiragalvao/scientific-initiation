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766"/>
  </p:normalViewPr>
  <p:slideViewPr>
    <p:cSldViewPr snapToGrid="0" snapToObjects="1">
      <p:cViewPr varScale="1">
        <p:scale>
          <a:sx n="86" d="100"/>
          <a:sy n="86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simposio_autalizado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509" y="256032"/>
            <a:ext cx="3179736" cy="2116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055" y="2450972"/>
            <a:ext cx="82334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Eficiência computacional em operações de Transformers</a:t>
            </a:r>
          </a:p>
          <a:p>
            <a:r>
              <a:rPr lang="pt-BR">
                <a:solidFill>
                  <a:srgbClr val="00285A"/>
                </a:solidFill>
                <a:latin typeface="Arial"/>
              </a:rPr>
              <a:t>quantização, pruning e análise experimental</a:t>
            </a:r>
            <a:endParaRPr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577" y="3763418"/>
            <a:ext cx="53399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noProof="0">
                <a:solidFill>
                  <a:srgbClr val="004C99"/>
                </a:solidFill>
                <a:latin typeface="Arial"/>
              </a:rPr>
              <a:t>Lucas Cerqueira Galvão</a:t>
            </a:r>
          </a:p>
          <a:p>
            <a:r>
              <a:rPr lang="pt-BR" sz="2000" b="1" noProof="0">
                <a:solidFill>
                  <a:srgbClr val="004C99"/>
                </a:solidFill>
                <a:latin typeface="Arial"/>
              </a:rPr>
              <a:t>Orientador: Prof. Me. Walter Silva Oliveira</a:t>
            </a:r>
            <a:endParaRPr lang="pt-BR" sz="2000" b="1" noProof="0" dirty="0">
              <a:solidFill>
                <a:srgbClr val="004C99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4577" y="5518700"/>
            <a:ext cx="518001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noProof="0">
                <a:solidFill>
                  <a:srgbClr val="228B22"/>
                </a:solidFill>
                <a:latin typeface="Arial"/>
              </a:rPr>
              <a:t>Universidade Católica de Santos • Ciência da Computação • Santos/SP</a:t>
            </a:r>
            <a:endParaRPr lang="pt-BR" sz="1700" b="1" noProof="0" dirty="0">
              <a:solidFill>
                <a:srgbClr val="228B22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4577" y="5951499"/>
            <a:ext cx="62435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600" b="1" noProof="0">
                <a:solidFill>
                  <a:srgbClr val="FF8C00"/>
                </a:solidFill>
                <a:latin typeface="Arial"/>
              </a:rPr>
              <a:t>I Simpósio de Ciência de Dados das Fatecs • Santos/SP • 2026</a:t>
            </a:r>
            <a:endParaRPr lang="pt-BR" sz="1600" b="1" noProof="0" dirty="0">
              <a:solidFill>
                <a:srgbClr val="FF8C00"/>
              </a:solidFill>
              <a:latin typeface="Arial"/>
            </a:endParaRPr>
          </a:p>
        </p:txBody>
      </p:sp>
      <p:pic>
        <p:nvPicPr>
          <p:cNvPr id="11" name="Picture 10" descr="LOGO-SP-PT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127275"/>
            <a:ext cx="3710496" cy="1518961"/>
          </a:xfrm>
          <a:prstGeom prst="rect">
            <a:avLst/>
          </a:prstGeom>
        </p:spPr>
      </p:pic>
      <p:pic>
        <p:nvPicPr>
          <p:cNvPr id="12" name="Picture 11" descr="fatec_ra_baixada_santista_baixada_santista_rubens_lara_cor.png">
            <a:extLst>
              <a:ext uri="{FF2B5EF4-FFF2-40B4-BE49-F238E27FC236}">
                <a16:creationId xmlns:a16="http://schemas.microsoft.com/office/drawing/2014/main" id="{16B564F0-BDD5-81DC-6BB8-8ABFE9C22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519" y="487641"/>
            <a:ext cx="2277510" cy="119989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BA0C249-E168-69C1-1279-050445212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656" y="378430"/>
            <a:ext cx="1513238" cy="99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75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8197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>
                <a:solidFill>
                  <a:srgbClr val="00285A"/>
                </a:solidFill>
                <a:latin typeface="Arial"/>
              </a:rPr>
              <a:t>ROTEIRO</a:t>
            </a:r>
            <a:endParaRPr sz="28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026352"/>
            <a:ext cx="6746001" cy="5123125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8479" y="1080702"/>
            <a:ext cx="5047410" cy="493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300"/>
              <a:t>1. Motivação e problema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300"/>
              <a:t>2. Base teórica: quantização, pruning e TurboQuant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300"/>
              <a:t>3. Desenho experimental do trabalho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300"/>
              <a:t>4. Resultados parciais e evidências iniciais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300"/>
              <a:t>5. Conclusões e próximos passos</a:t>
            </a:r>
            <a:endParaRPr sz="2300" dirty="0"/>
          </a:p>
        </p:txBody>
      </p:sp>
      <p:pic>
        <p:nvPicPr>
          <p:cNvPr id="11" name="Picture 10" descr="logo_simposio_autalizado copy.png">
            <a:extLst>
              <a:ext uri="{FF2B5EF4-FFF2-40B4-BE49-F238E27FC236}">
                <a16:creationId xmlns:a16="http://schemas.microsoft.com/office/drawing/2014/main" id="{1F0FC765-FC95-11A0-2C24-B9330F55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522" y="376147"/>
            <a:ext cx="3839304" cy="2555373"/>
          </a:xfrm>
          <a:prstGeom prst="rect">
            <a:avLst/>
          </a:prstGeom>
        </p:spPr>
      </p:pic>
      <p:pic>
        <p:nvPicPr>
          <p:cNvPr id="12" name="Picture 11" descr="fatec_ra_baixada_santista_baixada_santista_rubens_lara_cor.png">
            <a:extLst>
              <a:ext uri="{FF2B5EF4-FFF2-40B4-BE49-F238E27FC236}">
                <a16:creationId xmlns:a16="http://schemas.microsoft.com/office/drawing/2014/main" id="{403092DF-7488-F519-D7E5-03BD0D19B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300" y="3079067"/>
            <a:ext cx="2514737" cy="1324871"/>
          </a:xfrm>
          <a:prstGeom prst="rect">
            <a:avLst/>
          </a:prstGeom>
        </p:spPr>
      </p:pic>
      <p:pic>
        <p:nvPicPr>
          <p:cNvPr id="13" name="Picture 12" descr="LOGO-SP-PT-HORIZONTAL.png">
            <a:extLst>
              <a:ext uri="{FF2B5EF4-FFF2-40B4-BE49-F238E27FC236}">
                <a16:creationId xmlns:a16="http://schemas.microsoft.com/office/drawing/2014/main" id="{2ED83781-1F2C-44A7-DC61-C25124FA5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172" y="5294398"/>
            <a:ext cx="3710496" cy="151896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70B17F3-7F2D-DB19-3F97-65A6750EF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3292" y="4479007"/>
            <a:ext cx="1668565" cy="110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6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1290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TRANSFORMERS DOMINAM A IA ATUAL</a:t>
            </a:r>
            <a:endParaRPr sz="27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79" y="1280160"/>
            <a:ext cx="9028577" cy="4730896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7959777" cy="372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Transformers se tornaram a arquitetura-base de LLMs, visão computacional e modelos multimodais.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Seu sucesso vem da capacidade de paralelizar operações e capturar dependências de longo alcance.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Esse avanço elevou a qualidade dos modelos, mas também aumentou o custo computacional da inferência.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Hoje, eficiência deixou de ser detalhe de implementação e virou requisito de viabilidade.</a:t>
            </a:r>
            <a:endParaRPr sz="2000"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8FB303CE-836B-7025-C434-7222F188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LOGO-SP-PT-HORIZONTAL.png">
            <a:extLst>
              <a:ext uri="{FF2B5EF4-FFF2-40B4-BE49-F238E27FC236}">
                <a16:creationId xmlns:a16="http://schemas.microsoft.com/office/drawing/2014/main" id="{9B7B2419-056B-7B98-BAAB-2C7B37E8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8608C8A3-49F1-6CDB-0E9D-97C49BE1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8FCCFB1-AD0A-C3EC-97D7-426D87AD2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1788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GARGALO COMPUTACIONAL NA INFERÊNCIA</a:t>
            </a:r>
            <a:endParaRPr sz="27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Na inferência, o custo aparece principalmente em projeções lineares densas, atenção e movimentação de memória.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A autoatenção cresce com o comprimento da sequência e pressiona latência e uso de memória.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Além do cálculo, o armazenamento intermediário, como KV cache, se torna um gargalo em contextos longos.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E851798-C949-E775-7D5C-1AB1449450B2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Atenção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comparações entre tokens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A899381-D208-9F40-802A-C1415181B4B3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Projeções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matrizes densas repetidas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2792F5C-02DF-B5C1-8A4F-5F5628B75C55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KV cache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memória cresce com contexto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21D4E22-1C6F-97A8-1EC5-01F5ABDE9BF4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Foco do trabalho: eficiência em inferência, não em treinamento.</a:t>
            </a:r>
          </a:p>
        </p:txBody>
      </p:sp>
    </p:spTree>
    <p:extLst>
      <p:ext uri="{BB962C8B-B14F-4D97-AF65-F5344CB8AC3E}">
        <p14:creationId xmlns:p14="http://schemas.microsoft.com/office/powerpoint/2010/main" val="4115027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0140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PROBLEMA DE PESQUISA E HIPÓTESE</a:t>
            </a:r>
            <a:endParaRPr sz="27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79" y="1280160"/>
            <a:ext cx="9028577" cy="4730896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7959777" cy="465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Problema: como reduzir o custo computacional de operações centrais do Transformer sem degradar excessivamente a qualidade das saídas.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Recorte: analisar cenários controlados de inferência com foco em projeção densa e self-attention.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Hipótese inicial: quantização tende a oferecer melhor relação entre ganho computacional e preservação de comportamento do que pruning.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Essa hipótese será motivada por literatura recente e depois testada no protótipo experimental.</a:t>
            </a:r>
            <a:endParaRPr sz="2000"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8FB303CE-836B-7025-C434-7222F188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LOGO-SP-PT-HORIZONTAL.png">
            <a:extLst>
              <a:ext uri="{FF2B5EF4-FFF2-40B4-BE49-F238E27FC236}">
                <a16:creationId xmlns:a16="http://schemas.microsoft.com/office/drawing/2014/main" id="{9B7B2419-056B-7B98-BAAB-2C7B37E8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8608C8A3-49F1-6CDB-0E9D-97C49BE1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8FCCFB1-AD0A-C3EC-97D7-426D87AD2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8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996B3-3004-6A5A-FF11-D14CC360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8CB1C6-738A-EC38-AB98-3767945585FC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D03D19-15AA-6868-F975-BBF7285072F1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9BB9A-8E06-9FFC-22CA-D1D9D8CBEFDD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923A8-9465-9BBF-E59F-7F9ABBB08BCE}"/>
              </a:ext>
            </a:extLst>
          </p:cNvPr>
          <p:cNvSpPr txBox="1"/>
          <p:nvPr/>
        </p:nvSpPr>
        <p:spPr>
          <a:xfrm>
            <a:off x="548640" y="457200"/>
            <a:ext cx="22381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OBJETIVOS</a:t>
            </a:r>
            <a:endParaRPr sz="27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2B0E5F-7718-ECC4-4E1A-26177A6E48A5}"/>
              </a:ext>
            </a:extLst>
          </p:cNvPr>
          <p:cNvSpPr/>
          <p:nvPr/>
        </p:nvSpPr>
        <p:spPr>
          <a:xfrm>
            <a:off x="548640" y="1411387"/>
            <a:ext cx="91200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BF0C5-BCE7-9E7F-97F1-B06D0962DE4D}"/>
              </a:ext>
            </a:extLst>
          </p:cNvPr>
          <p:cNvSpPr txBox="1"/>
          <p:nvPr/>
        </p:nvSpPr>
        <p:spPr>
          <a:xfrm>
            <a:off x="914400" y="1645920"/>
            <a:ext cx="8484433" cy="372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Analisar o impacto de configurações numéricas e estruturais na inferência de operações centrais do Transformer.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Implementar um modelo simplificado em Python com projeção linear densa e self-attention.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Comparar baseline, pruning por magnitude e quantização linear INT8 simulada.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Medir latência, memória, FLOPs e qualidade das saídas para discutir os trade-offs.</a:t>
            </a:r>
            <a:endParaRPr sz="200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logo_simposio_autalizado copy.png">
            <a:extLst>
              <a:ext uri="{FF2B5EF4-FFF2-40B4-BE49-F238E27FC236}">
                <a16:creationId xmlns:a16="http://schemas.microsoft.com/office/drawing/2014/main" id="{0CB48C5D-129C-BFAB-E262-31E4C119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fatec_ra_baixada_santista_baixada_santista_rubens_lara_cor.png">
            <a:extLst>
              <a:ext uri="{FF2B5EF4-FFF2-40B4-BE49-F238E27FC236}">
                <a16:creationId xmlns:a16="http://schemas.microsoft.com/office/drawing/2014/main" id="{17D30892-AC95-4919-5F44-0C8A7EBB0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00F8F03-E33E-F01D-C8ED-49BB27815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7" name="Picture 16" descr="LOGO-SP-PT-HORIZONTAL.png">
            <a:extLst>
              <a:ext uri="{FF2B5EF4-FFF2-40B4-BE49-F238E27FC236}">
                <a16:creationId xmlns:a16="http://schemas.microsoft.com/office/drawing/2014/main" id="{239D537F-77DB-AA7A-8C63-14D98000F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30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9432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OPERAÇÕES CENTRAIS DO TRANSFORMER</a:t>
            </a:r>
            <a:endParaRPr sz="27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1" y="1280160"/>
            <a:ext cx="9344867" cy="4958648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0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A projeção linear densa transforma vetores de entrada por multiplicações matriciais em larga escala.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Na atenção, o modelo calcula Q, K e V, produz escores, aplica softmax e gera o vetor de contexto.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Essas duas rotinas concentram custo suficiente para servir como base de comparação entre estratégias de otimização.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332C8369-BFD7-BBC0-8943-F074D2D8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1BC4D2D4-88C3-18FD-B7DF-31E6CF4D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0DC0587-8CDB-4612-E735-8F8AF082F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C13E21DA-A1ED-9C3C-0F0A-5CE4EB5C4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D2D7317-FFF6-6838-EF45-40D46549E9F2}"/>
              </a:ext>
            </a:extLst>
          </p:cNvPr>
          <p:cNvSpPr/>
          <p:nvPr/>
        </p:nvSpPr>
        <p:spPr>
          <a:xfrm>
            <a:off x="11938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Q/K/V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projeções iniciais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511D035E-8450-48B8-ADCB-762F6A21B568}"/>
              </a:ext>
            </a:extLst>
          </p:cNvPr>
          <p:cNvSpPr/>
          <p:nvPr/>
        </p:nvSpPr>
        <p:spPr>
          <a:xfrm>
            <a:off x="30988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6F5A138-3878-F115-1D8F-EE713A53824A}"/>
              </a:ext>
            </a:extLst>
          </p:cNvPr>
          <p:cNvSpPr/>
          <p:nvPr/>
        </p:nvSpPr>
        <p:spPr>
          <a:xfrm>
            <a:off x="32766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Scores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Q × Kᵀ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1B78E050-769C-D97F-BAEE-A5D775315079}"/>
              </a:ext>
            </a:extLst>
          </p:cNvPr>
          <p:cNvSpPr/>
          <p:nvPr/>
        </p:nvSpPr>
        <p:spPr>
          <a:xfrm>
            <a:off x="51816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46D0E4A-10F4-07AA-700D-555D44E5B1FD}"/>
              </a:ext>
            </a:extLst>
          </p:cNvPr>
          <p:cNvSpPr/>
          <p:nvPr/>
        </p:nvSpPr>
        <p:spPr>
          <a:xfrm>
            <a:off x="53594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Softmax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pesos de atenção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68183497-025B-19AC-5C93-2C3C0A522C57}"/>
              </a:ext>
            </a:extLst>
          </p:cNvPr>
          <p:cNvSpPr/>
          <p:nvPr/>
        </p:nvSpPr>
        <p:spPr>
          <a:xfrm>
            <a:off x="72644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DD569EA-87B4-AFC4-12E6-8B4B9AF34804}"/>
              </a:ext>
            </a:extLst>
          </p:cNvPr>
          <p:cNvSpPr/>
          <p:nvPr/>
        </p:nvSpPr>
        <p:spPr>
          <a:xfrm>
            <a:off x="74422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Saída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contexto + projeção</a:t>
            </a:r>
          </a:p>
        </p:txBody>
      </p:sp>
    </p:spTree>
    <p:extLst>
      <p:ext uri="{BB962C8B-B14F-4D97-AF65-F5344CB8AC3E}">
        <p14:creationId xmlns:p14="http://schemas.microsoft.com/office/powerpoint/2010/main" val="375217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869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QUANTIZAÇÃO: GANHOS E TRADE-OFFS</a:t>
            </a:r>
            <a:endParaRPr sz="27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Quantização reduz a precisão numérica usada para armazenar e processar pesos, ativações ou caches.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Em geral, os principais ganhos são menor memória, menor tráfego de dados e potencial aumento de throughput.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O risco é introduzir erro numérico; por isso, o trabalho precisa medir qualidade das saídas além de medir custo.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6D1457E-FE28-064A-71BA-3B69251029D6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Menos bits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representação mais compacta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2201CDF-EDA6-31FF-19EC-DB950D7FF57B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Menos memória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menor custo por tensor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26391F5-9159-919F-5D09-6DDC8C03AC80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Mais throughput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potencial ganho em inferência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B4158A6-50E8-AECE-352B-1E020ED801E5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Pergunta central: quanto erro aparece em troca desses ganhos?</a:t>
            </a:r>
          </a:p>
        </p:txBody>
      </p:sp>
    </p:spTree>
    <p:extLst>
      <p:ext uri="{BB962C8B-B14F-4D97-AF65-F5344CB8AC3E}">
        <p14:creationId xmlns:p14="http://schemas.microsoft.com/office/powerpoint/2010/main" val="27498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62606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PRUNING: GANHOS E LIMITAÇÕES</a:t>
            </a:r>
            <a:endParaRPr sz="27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Pruning remove ou desativa pesos considerados menos relevantes para reduzir o tamanho efetivo do modelo.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A economia teórica pode ser relevante, mas o ganho prático depende de implementação e suporte do hardware.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Como altera a estrutura do cálculo, pruning pode introduzir impacto mais imprevisível na saída do modelo.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F7027BC-BAFB-0922-47BB-82D15AADD4D7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Esparsidade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menos pesos ativos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8BD6B5F-5217-52D3-1F1D-AD80C891ED47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Ganho prático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depende da execução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7932384-D062-A4B0-4E33-11EC6AA09AD6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Risco maior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altera a estrutura do cálculo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07C0EBE-7099-0FA6-8AAD-94EA603808B7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Por isso, pruning entra como comparação importante, mas não como hipótese mais forte.</a:t>
            </a:r>
          </a:p>
        </p:txBody>
      </p:sp>
    </p:spTree>
    <p:extLst>
      <p:ext uri="{BB962C8B-B14F-4D97-AF65-F5344CB8AC3E}">
        <p14:creationId xmlns:p14="http://schemas.microsoft.com/office/powerpoint/2010/main" val="2193376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0768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TURBOQUANT E A HIPÓTESE DO TRABALHO</a:t>
            </a:r>
            <a:endParaRPr sz="27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O Google Research divulgou o TurboQuant em 24 de março de 2026 como técnica forte para compressão de vetores e KV cache.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O paper do método está no arXiv desde 28 de abril de 2025 e o enquadra como quantização online com baixa distorção.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Para este projeto, TurboQuant reforça a hipótese de que quantização merece prioridade no primeiro ciclo experimental.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175BFAA-D665-F4E3-6B37-D668012115C7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Blog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Google Research • 24/03/2026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A0EEE07-4A74-A40C-EFA2-A1BE8B304FFF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Paper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arXiv • 28/04/2025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009F9B5-AC71-0D33-3527-62357E3F179A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Sinal técnico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até 6x menos memória e até 8x speedup reportado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449C821-8997-A9C9-40A3-D0C2A60154E2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Isso motiva a hipótese; não substitui a validação do seu experimento.</a:t>
            </a:r>
          </a:p>
        </p:txBody>
      </p:sp>
    </p:spTree>
    <p:extLst>
      <p:ext uri="{BB962C8B-B14F-4D97-AF65-F5344CB8AC3E}">
        <p14:creationId xmlns:p14="http://schemas.microsoft.com/office/powerpoint/2010/main" val="4277812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7689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METODOLOGIA: DESENHO EXPERIMENTAL</a:t>
            </a:r>
            <a:endParaRPr sz="27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1" y="1280160"/>
            <a:ext cx="9344867" cy="4958648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0" cy="3584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O estudo compara três cenários: baseline sem otimização, pruning por magnitude em 50% e quantização linear INT8 simulada.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As operações avaliadas são projeção linear densa e self-attention de cabeça única em ambiente controlado.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A grade principal usa comprimentos de sequência L = 64, 128, 256 e dimensões D = 128, 256, 512.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332C8369-BFD7-BBC0-8943-F074D2D8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1BC4D2D4-88C3-18FD-B7DF-31E6CF4D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0DC0587-8CDB-4612-E735-8F8AF082F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C13E21DA-A1ED-9C3C-0F0A-5CE4EB5C4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BCF53CD-6C7C-844F-C4A0-755AEFD81636}"/>
              </a:ext>
            </a:extLst>
          </p:cNvPr>
          <p:cNvSpPr/>
          <p:nvPr/>
        </p:nvSpPr>
        <p:spPr>
          <a:xfrm>
            <a:off x="11938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Entrada fixa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mesmos dados e pesos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E3C7B0A1-CF3A-828A-C15C-281AF7E05B91}"/>
              </a:ext>
            </a:extLst>
          </p:cNvPr>
          <p:cNvSpPr/>
          <p:nvPr/>
        </p:nvSpPr>
        <p:spPr>
          <a:xfrm>
            <a:off x="30988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78C7BF1-BC5A-DE9A-C489-F9ABDDA36055}"/>
              </a:ext>
            </a:extLst>
          </p:cNvPr>
          <p:cNvSpPr/>
          <p:nvPr/>
        </p:nvSpPr>
        <p:spPr>
          <a:xfrm>
            <a:off x="32766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Operações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densa + atenção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52D12808-7F73-C248-0E01-E2D6369D2008}"/>
              </a:ext>
            </a:extLst>
          </p:cNvPr>
          <p:cNvSpPr/>
          <p:nvPr/>
        </p:nvSpPr>
        <p:spPr>
          <a:xfrm>
            <a:off x="51816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D5F5283-E5C9-8075-CA30-ED627029808F}"/>
              </a:ext>
            </a:extLst>
          </p:cNvPr>
          <p:cNvSpPr/>
          <p:nvPr/>
        </p:nvSpPr>
        <p:spPr>
          <a:xfrm>
            <a:off x="53594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Cenários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baseline • pruning • INT8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D7E2745B-D835-9718-BEEB-826DE9EA9B18}"/>
              </a:ext>
            </a:extLst>
          </p:cNvPr>
          <p:cNvSpPr/>
          <p:nvPr/>
        </p:nvSpPr>
        <p:spPr>
          <a:xfrm>
            <a:off x="72644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FB60C08-1FB7-12BC-B291-B48974A71D25}"/>
              </a:ext>
            </a:extLst>
          </p:cNvPr>
          <p:cNvSpPr/>
          <p:nvPr/>
        </p:nvSpPr>
        <p:spPr>
          <a:xfrm>
            <a:off x="74422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Comparação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custo e qualidade</a:t>
            </a:r>
          </a:p>
        </p:txBody>
      </p:sp>
    </p:spTree>
    <p:extLst>
      <p:ext uri="{BB962C8B-B14F-4D97-AF65-F5344CB8AC3E}">
        <p14:creationId xmlns:p14="http://schemas.microsoft.com/office/powerpoint/2010/main" val="1532149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6770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METODOLOGIA: MÉTRICAS E CONTROLES</a:t>
            </a:r>
            <a:endParaRPr sz="27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O ambiente previsto usa Python 3.11, NumPy, PyTorch, Pandas e GPU RTX 4070 Ti Super com batch fixo igual a 1.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Cada cenário terá aquecimento, medições válidas e repetições, com sincronização explícita na GPU para latência.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As métricas incluem latência, memória, FLOPs estimados, MSE, MAE, R² e similaridade de cosseno.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9FA9A49-382D-FC44-A733-1808AAAA4172}"/>
              </a:ext>
            </a:extLst>
          </p:cNvPr>
          <p:cNvSpPr/>
          <p:nvPr/>
        </p:nvSpPr>
        <p:spPr>
          <a:xfrm>
            <a:off x="12065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Latência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média, p50 e p95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011A22F-4236-0B2E-7571-29EB122C5792}"/>
              </a:ext>
            </a:extLst>
          </p:cNvPr>
          <p:cNvSpPr/>
          <p:nvPr/>
        </p:nvSpPr>
        <p:spPr>
          <a:xfrm>
            <a:off x="32893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Memória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pico e estimativa teórica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B3AF8F3-EBC8-661A-992B-B99B69F1AE3D}"/>
              </a:ext>
            </a:extLst>
          </p:cNvPr>
          <p:cNvSpPr/>
          <p:nvPr/>
        </p:nvSpPr>
        <p:spPr>
          <a:xfrm>
            <a:off x="53721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FLOPs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custo analítico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E85B971-1335-4171-E962-1A396EC69C92}"/>
              </a:ext>
            </a:extLst>
          </p:cNvPr>
          <p:cNvSpPr/>
          <p:nvPr/>
        </p:nvSpPr>
        <p:spPr>
          <a:xfrm>
            <a:off x="74549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Qualidade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MSE, MAE, R² e cosseno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85ED2F9-4BBA-25AF-21BD-D88834630E5C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Controle central: mesma semente, mesmos dados e mesmos pesos-base.</a:t>
            </a:r>
          </a:p>
        </p:txBody>
      </p:sp>
    </p:spTree>
    <p:extLst>
      <p:ext uri="{BB962C8B-B14F-4D97-AF65-F5344CB8AC3E}">
        <p14:creationId xmlns:p14="http://schemas.microsoft.com/office/powerpoint/2010/main" val="1427667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543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285A"/>
                </a:solidFill>
                <a:latin typeface="Arial"/>
              </a:rPr>
              <a:t>RESULTADOS PARCIAIS: ESTADO REAL DO PROJETO</a:t>
            </a:r>
            <a:endParaRPr sz="24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O código-base do benchmark já foi estruturado com operações, métricas e cenários previstos no plano de trabalho.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O pipeline experimental está definido, mas os benchmarks completos ainda dependem da etapa de execução com PyTorch e GPU.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Neste momento, o trabalho já tem hipótese clara, desenho experimental fechado e base pronta para coleta futura.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43F20AE-FFFF-1188-EAD4-6166BAE0FC62}"/>
              </a:ext>
            </a:extLst>
          </p:cNvPr>
          <p:cNvSpPr/>
          <p:nvPr/>
        </p:nvSpPr>
        <p:spPr>
          <a:xfrm>
            <a:off x="12065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Código-base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benchmark e métricas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D4062A2-5396-D417-33DA-D8A7DA582A96}"/>
              </a:ext>
            </a:extLst>
          </p:cNvPr>
          <p:cNvSpPr/>
          <p:nvPr/>
        </p:nvSpPr>
        <p:spPr>
          <a:xfrm>
            <a:off x="32893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Cenários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baseline • pruning • INT8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9911E8D-1E64-0DBA-BE99-73BABD91B3DF}"/>
              </a:ext>
            </a:extLst>
          </p:cNvPr>
          <p:cNvSpPr/>
          <p:nvPr/>
        </p:nvSpPr>
        <p:spPr>
          <a:xfrm>
            <a:off x="53721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Métricas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latência, memória e erro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EBA0C58-E7C9-3E09-BB13-B2ADB27064B0}"/>
              </a:ext>
            </a:extLst>
          </p:cNvPr>
          <p:cNvSpPr/>
          <p:nvPr/>
        </p:nvSpPr>
        <p:spPr>
          <a:xfrm>
            <a:off x="74549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Próxima etapa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execução e coleta dos CSVs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BFE8BCA-6214-DE73-1EDE-D54ECCDABA4B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Apresentação de hoje: projeto em fase inicial, mas já tecnicamente estruturado.</a:t>
            </a:r>
          </a:p>
        </p:txBody>
      </p:sp>
    </p:spTree>
    <p:extLst>
      <p:ext uri="{BB962C8B-B14F-4D97-AF65-F5344CB8AC3E}">
        <p14:creationId xmlns:p14="http://schemas.microsoft.com/office/powerpoint/2010/main" val="2387849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68660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EVIDÊNCIAS INICIAIS DA LITERATURA</a:t>
            </a:r>
            <a:endParaRPr sz="27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A literatura recente já sugere que quantização pode oferecer grande redução de memória com baixo impacto de qualidade.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Esses dados motivam priorizar quantização como primeira hipótese experimental do trabalho.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42E85EC-013A-2C7D-6526-A0829928EF0E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3048000"/>
            <a:ext cx="8763000" cy="2794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8C2E468-DAB1-55C9-5483-F42258C2D6E7}"/>
              </a:ext>
            </a:extLst>
          </p:cNvPr>
          <p:cNvSpPr txBox="1"/>
          <p:nvPr/>
        </p:nvSpPr>
        <p:spPr>
          <a:xfrm>
            <a:off x="939800" y="5867400"/>
            <a:ext cx="863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Figura adaptada do Google Research Blog, 24/03/2026. Não representa resultado deste trabalho.</a:t>
            </a:r>
          </a:p>
        </p:txBody>
      </p:sp>
    </p:spTree>
    <p:extLst>
      <p:ext uri="{BB962C8B-B14F-4D97-AF65-F5344CB8AC3E}">
        <p14:creationId xmlns:p14="http://schemas.microsoft.com/office/powerpoint/2010/main" val="1971035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66549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CONCLUSÕES E PRÓXIMOS PASSOS</a:t>
            </a:r>
            <a:endParaRPr sz="27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06992"/>
            <a:ext cx="87902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9409" y="1495327"/>
            <a:ext cx="7839857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O problema de eficiência em Transformers é relevante porque tempo, memória e qualidade precisam ser equilibrados na inferência.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Entre as estratégias estudadas, quantização aparece como a hipótese inicial mais forte, reforçada por literatura recente como TurboQuant.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O projeto já possui desenho experimental consistente e a próxima etapa é executar os benchmarks e analisar os CSVs gerados.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2000">
                <a:latin typeface="Arial" panose="020B0604020202020204" pitchFamily="34" charset="0"/>
              </a:rPr>
              <a:t>A expectativa é comparar formalmente ganho computacional versus preservação da saída em cenários controlados.</a:t>
            </a:r>
            <a:endParaRPr sz="2000"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DCAAEDCA-5BC2-868B-B898-4DFFDDEB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4" name="Picture 13" descr="fatec_ra_baixada_santista_baixada_santista_rubens_lara_cor.png">
            <a:extLst>
              <a:ext uri="{FF2B5EF4-FFF2-40B4-BE49-F238E27FC236}">
                <a16:creationId xmlns:a16="http://schemas.microsoft.com/office/drawing/2014/main" id="{4EF2ED9A-FCF3-7342-5A0D-09C141B26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CA1862F-3920-E68C-6981-B5672148E0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6" name="Picture 15" descr="LOGO-SP-PT-HORIZONTAL.png">
            <a:extLst>
              <a:ext uri="{FF2B5EF4-FFF2-40B4-BE49-F238E27FC236}">
                <a16:creationId xmlns:a16="http://schemas.microsoft.com/office/drawing/2014/main" id="{29F7F173-EB9C-EA99-973F-8FD1CEFD9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6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CF223-B7D5-3C79-2F98-18838114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DEE0A5-2622-6344-EF04-68EEAB930558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8ACF2-7206-91E1-039E-92E3D189B38C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620FE-0712-832F-2CBE-8F4D8C1A1D62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CFB53-5DB2-E441-0281-CD14A5C6F289}"/>
              </a:ext>
            </a:extLst>
          </p:cNvPr>
          <p:cNvSpPr txBox="1"/>
          <p:nvPr/>
        </p:nvSpPr>
        <p:spPr>
          <a:xfrm>
            <a:off x="548640" y="457200"/>
            <a:ext cx="27574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700" b="1">
                <a:solidFill>
                  <a:srgbClr val="00285A"/>
                </a:solidFill>
                <a:latin typeface="Arial"/>
              </a:rPr>
              <a:t>REFERÊNCIAS</a:t>
            </a:r>
            <a:endParaRPr sz="27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510F56-8D51-09E9-0903-555AB0C408B2}"/>
              </a:ext>
            </a:extLst>
          </p:cNvPr>
          <p:cNvSpPr/>
          <p:nvPr/>
        </p:nvSpPr>
        <p:spPr>
          <a:xfrm>
            <a:off x="548640" y="1106992"/>
            <a:ext cx="938983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272FF-31C7-500F-95E5-423CCBD8B79E}"/>
              </a:ext>
            </a:extLst>
          </p:cNvPr>
          <p:cNvSpPr txBox="1"/>
          <p:nvPr/>
        </p:nvSpPr>
        <p:spPr>
          <a:xfrm>
            <a:off x="899409" y="1495327"/>
            <a:ext cx="7839857" cy="351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500" noProof="0">
                <a:latin typeface="Arial" panose="020B0604020202020204" pitchFamily="34" charset="0"/>
              </a:rPr>
              <a:t>Bibi, U. et al. Advances in pruning and quantization for natural language processing. IEEE Access, 2024.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500" noProof="0">
                <a:latin typeface="Arial" panose="020B0604020202020204" pitchFamily="34" charset="0"/>
              </a:rPr>
              <a:t>Google Research. TurboQuant: Redefining AI efficiency with extreme compression. 24 mar. 2026.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500" noProof="0">
                <a:latin typeface="Arial" panose="020B0604020202020204" pitchFamily="34" charset="0"/>
              </a:rPr>
              <a:t>Hossain, M. B.; Gong, N.; Shaban, M. A Novel Attention-Based Layer Pruning Approach..., 2024.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500" noProof="0">
                <a:latin typeface="Arial" panose="020B0604020202020204" pitchFamily="34" charset="0"/>
              </a:rPr>
              <a:t>Tang, Y. et al. A survey on transformer compression. arXiv:2402.05964, 2024.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500" noProof="0">
                <a:latin typeface="Arial" panose="020B0604020202020204" pitchFamily="34" charset="0"/>
              </a:rPr>
              <a:t>Vaswani, A. et al. Attention Is All You Need. NeurIPS, 2017.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500" noProof="0">
                <a:latin typeface="Arial" panose="020B0604020202020204" pitchFamily="34" charset="0"/>
              </a:rPr>
              <a:t>Zandieh, A. et al. TurboQuant: Online Vector Quantization with Near-optimal Distortion Rate. arXiv:2504.19874, 2025.</a:t>
            </a:r>
            <a:endParaRPr lang="pt-BR" sz="1500" noProof="0" dirty="0">
              <a:latin typeface="Arial" panose="020B0604020202020204" pitchFamily="34" charset="0"/>
            </a:endParaRPr>
          </a:p>
        </p:txBody>
      </p:sp>
      <p:pic>
        <p:nvPicPr>
          <p:cNvPr id="9" name="Picture 8" descr="fatec_ra_baixada_santista_baixada_santista_rubens_lara_cor.png">
            <a:extLst>
              <a:ext uri="{FF2B5EF4-FFF2-40B4-BE49-F238E27FC236}">
                <a16:creationId xmlns:a16="http://schemas.microsoft.com/office/drawing/2014/main" id="{6657C4D2-96CF-82E4-2B57-5C87D8385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321" y="2329489"/>
            <a:ext cx="1972521" cy="1070536"/>
          </a:xfrm>
          <a:prstGeom prst="rect">
            <a:avLst/>
          </a:prstGeom>
        </p:spPr>
      </p:pic>
      <p:pic>
        <p:nvPicPr>
          <p:cNvPr id="10" name="Picture 9" descr="logo_simposio_autalizado copy.png">
            <a:extLst>
              <a:ext uri="{FF2B5EF4-FFF2-40B4-BE49-F238E27FC236}">
                <a16:creationId xmlns:a16="http://schemas.microsoft.com/office/drawing/2014/main" id="{FDAA8367-43FC-29AE-70A6-277F2C28E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7D2A2F6-4DFD-EA0D-5F4E-27F7DEA26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4" name="Picture 13" descr="LOGO-SP-PT-HORIZONTAL.png">
            <a:extLst>
              <a:ext uri="{FF2B5EF4-FFF2-40B4-BE49-F238E27FC236}">
                <a16:creationId xmlns:a16="http://schemas.microsoft.com/office/drawing/2014/main" id="{E5A9E87F-09BB-140E-74C5-5FAF6667A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95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4FB5B-5E4C-8486-7073-B8FC4C1AB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E0785-902D-2971-436A-141429C13932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AC71E-F7AF-41C1-1AD8-A5FA979A8B1A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AED13-FD7E-53FB-11A5-E917BD7AAA8D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simposio_autalizado copy.png">
            <a:extLst>
              <a:ext uri="{FF2B5EF4-FFF2-40B4-BE49-F238E27FC236}">
                <a16:creationId xmlns:a16="http://schemas.microsoft.com/office/drawing/2014/main" id="{EC6AFCF6-C77F-24B5-EA20-4380A909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509" y="256032"/>
            <a:ext cx="3179736" cy="21163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22BFB0-6DD2-7534-7C40-F058115854F0}"/>
              </a:ext>
            </a:extLst>
          </p:cNvPr>
          <p:cNvSpPr txBox="1"/>
          <p:nvPr/>
        </p:nvSpPr>
        <p:spPr>
          <a:xfrm>
            <a:off x="1484026" y="2834640"/>
            <a:ext cx="88486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>
                <a:latin typeface="Arial"/>
              </a:rPr>
              <a:t>OBRIGADO!</a:t>
            </a:r>
            <a:endParaRPr sz="2800" b="1" dirty="0"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09F60-BB90-F93B-D304-38C347C27FF8}"/>
              </a:ext>
            </a:extLst>
          </p:cNvPr>
          <p:cNvSpPr txBox="1"/>
          <p:nvPr/>
        </p:nvSpPr>
        <p:spPr>
          <a:xfrm>
            <a:off x="1618938" y="3657600"/>
            <a:ext cx="8439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>
                <a:latin typeface="Arial"/>
              </a:rPr>
              <a:t>Perguntas e discussão</a:t>
            </a:r>
            <a:endParaRPr sz="2000" dirty="0">
              <a:latin typeface="Arial"/>
            </a:endParaRPr>
          </a:p>
        </p:txBody>
      </p:sp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382589CE-4468-C1A9-5D00-930B3B60C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519" y="487641"/>
            <a:ext cx="2277510" cy="119989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50049A0-D96F-520F-3F6B-C07367FBB1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7656" y="378430"/>
            <a:ext cx="1513238" cy="997739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6252AAE9-A2C3-2BAD-E999-9F030C462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" y="127275"/>
            <a:ext cx="3710496" cy="151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25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1279</Words>
  <Application>Microsoft Office PowerPoint</Application>
  <PresentationFormat>Personalizar</PresentationFormat>
  <Paragraphs>139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Galvao</cp:lastModifiedBy>
  <cp:revision>4</cp:revision>
  <dcterms:created xsi:type="dcterms:W3CDTF">2013-01-27T09:14:16Z</dcterms:created>
  <dcterms:modified xsi:type="dcterms:W3CDTF">2026-05-25T20:43:57Z</dcterms:modified>
  <cp:category/>
</cp:coreProperties>
</file>