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766"/>
  </p:normalViewPr>
  <p:slideViewPr>
    <p:cSldViewPr snapToGrid="0" snapToObjects="1">
      <p:cViewPr varScale="1">
        <p:scale>
          <a:sx n="86" d="100"/>
          <a:sy n="86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simposio_autalizado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055" y="2450972"/>
            <a:ext cx="8233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700" b="1">
                <a:solidFill>
                  <a:srgbClr val="00285A"/>
                </a:solidFill>
                <a:latin typeface="Arial"/>
              </a:rPr>
              <a:t>Eficiência computacional em operações de Transformers</a:t>
            </a:r>
          </a:p>
          <a:p>
            <a:r>
              <a:rPr lang="pt-BR">
                <a:solidFill>
                  <a:srgbClr val="00285A"/>
                </a:solidFill>
                <a:latin typeface="Arial"/>
              </a:rPr>
              <a:t>quantização, pruning e análise experimental</a:t>
            </a:r>
            <a:endParaRPr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577" y="3763418"/>
            <a:ext cx="5339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Lucas Cerqueira Galvão</a:t>
            </a:r>
          </a:p>
          <a:p>
            <a:r>
              <a:rPr lang="pt-BR" sz="2000" b="1" noProof="0">
                <a:solidFill>
                  <a:srgbClr val="004C99"/>
                </a:solidFill>
                <a:latin typeface="Arial"/>
              </a:rPr>
              <a:t>Orientador: Prof. Me. Walter Silva Oliveira</a:t>
            </a:r>
            <a:endParaRPr lang="pt-BR" sz="2000" b="1" noProof="0" dirty="0">
              <a:solidFill>
                <a:srgbClr val="004C9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577" y="5518700"/>
            <a:ext cx="518001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noProof="0">
                <a:solidFill>
                  <a:srgbClr val="228B22"/>
                </a:solidFill>
                <a:latin typeface="Arial"/>
              </a:rPr>
              <a:t>Universidade Católica de Santos • Ciência da Computação • Santos/SP</a:t>
            </a:r>
            <a:endParaRPr lang="pt-BR" sz="1700" b="1" noProof="0" dirty="0">
              <a:solidFill>
                <a:srgbClr val="228B22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577" y="5951499"/>
            <a:ext cx="62435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600" b="1" noProof="0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lang="pt-BR" sz="1600" b="1" noProof="0" dirty="0">
              <a:solidFill>
                <a:srgbClr val="FF8C00"/>
              </a:solidFill>
              <a:latin typeface="Arial"/>
            </a:endParaRPr>
          </a:p>
        </p:txBody>
      </p:sp>
      <p:pic>
        <p:nvPicPr>
          <p:cNvPr id="11" name="Picture 10" descr="LOGO-SP-PT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16B564F0-BDD5-81DC-6BB8-8ABFE9C22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BA0C249-E168-69C1-1279-050445212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8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7043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ROTEIRO</a:t>
            </a:r>
            <a:endParaRPr sz="26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026352"/>
            <a:ext cx="6746001" cy="5123125"/>
          </a:xfrm>
          <a:prstGeom prst="roundRect">
            <a:avLst/>
          </a:prstGeom>
          <a:solidFill>
            <a:srgbClr val="FFFF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8479" y="1080702"/>
            <a:ext cx="5047410" cy="47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1. Motivação e problema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2. Base teórica: quantização, pruning e TurboQuant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3. Desenho experimental do trabalho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4. Resultados parciais e evidências iniciais</a:t>
            </a:r>
          </a:p>
          <a:p>
            <a:pPr>
              <a:lnSpc>
                <a:spcPct val="200000"/>
              </a:lnSpc>
              <a:defRPr sz="2400">
                <a:solidFill>
                  <a:srgbClr val="00285A"/>
                </a:solidFill>
                <a:latin typeface="Arial"/>
              </a:defRPr>
            </a:pPr>
            <a:r>
              <a:rPr lang="pt-BR" sz="2200"/>
              <a:t>5. Conclusões e próximos passos</a:t>
            </a:r>
            <a:endParaRPr sz="2200" dirty="0"/>
          </a:p>
        </p:txBody>
      </p:sp>
      <p:pic>
        <p:nvPicPr>
          <p:cNvPr id="11" name="Picture 10" descr="logo_simposio_autalizado copy.png">
            <a:extLst>
              <a:ext uri="{FF2B5EF4-FFF2-40B4-BE49-F238E27FC236}">
                <a16:creationId xmlns:a16="http://schemas.microsoft.com/office/drawing/2014/main" id="{1F0FC765-FC95-11A0-2C24-B9330F55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522" y="376147"/>
            <a:ext cx="3839304" cy="2555373"/>
          </a:xfrm>
          <a:prstGeom prst="rect">
            <a:avLst/>
          </a:prstGeom>
        </p:spPr>
      </p:pic>
      <p:pic>
        <p:nvPicPr>
          <p:cNvPr id="12" name="Picture 11" descr="fatec_ra_baixada_santista_baixada_santista_rubens_lara_cor.png">
            <a:extLst>
              <a:ext uri="{FF2B5EF4-FFF2-40B4-BE49-F238E27FC236}">
                <a16:creationId xmlns:a16="http://schemas.microsoft.com/office/drawing/2014/main" id="{403092DF-7488-F519-D7E5-03BD0D19B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00" y="3079067"/>
            <a:ext cx="2514737" cy="1324871"/>
          </a:xfrm>
          <a:prstGeom prst="rect">
            <a:avLst/>
          </a:prstGeom>
        </p:spPr>
      </p:pic>
      <p:pic>
        <p:nvPicPr>
          <p:cNvPr id="13" name="Picture 12" descr="LOGO-SP-PT-HORIZONTAL.png">
            <a:extLst>
              <a:ext uri="{FF2B5EF4-FFF2-40B4-BE49-F238E27FC236}">
                <a16:creationId xmlns:a16="http://schemas.microsoft.com/office/drawing/2014/main" id="{2ED83781-1F2C-44A7-DC61-C25124FA5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172" y="5294398"/>
            <a:ext cx="3710496" cy="151896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70B17F3-7F2D-DB19-3F97-65A6750EF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3292" y="4479007"/>
            <a:ext cx="1668565" cy="11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91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2223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TRANSFORMERS E A IA ATUAL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Transformers são a base de LLMs, visão computacional e modelos multimodais.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Seu sucesso vem da paralelização e da captura de dependências de longo alcance.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Esse avanço elevou a qualidade, mas também aumentou o custo da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Eficiência deixou de ser detalhe de implementação e virou requisito de viabilidade.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7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80336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GARGALOS NA INFERÊNCIA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Na inferência, o custo aparece principalmente em projeções lineares densas, atenção e movimentação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autoatenção cresce com o comprimento da sequência e pressiona latência e uso de memória.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Além do cálculo, o armazenamento intermediário, como KV cache, se torna um gargalo em contextos longos.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898DAF2-8483-E329-BC03-24D91F37EA76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Atenção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comparações entre tokens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77A75B4-B014-9B95-2517-88202C54A46B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Projeções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matrizes densas repetidas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89723D3-E5F9-9267-81AE-43566F8F5259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KV cache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memória cresce com contexto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335E45E-33CE-D4D2-B014-774FB5E351DC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Foco do trabalho: eficiência em inferência, não em treinamento.</a:t>
            </a:r>
          </a:p>
        </p:txBody>
      </p:sp>
    </p:spTree>
    <p:extLst>
      <p:ext uri="{BB962C8B-B14F-4D97-AF65-F5344CB8AC3E}">
        <p14:creationId xmlns:p14="http://schemas.microsoft.com/office/powerpoint/2010/main" val="92304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1765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PROBLEMA E HIPÓTESE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79" y="1280160"/>
            <a:ext cx="9028577" cy="4730896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7959777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Problema: como reduzir o custo computacional de operações centrais do Transformer sem degradar excessivamente a qualidade das saídas.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Recorte: analisar cenários controlados de inferência com foco em projeção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Hipótese inicial: quantização tende a oferecer melhor relação entre ganho computacional e preservação de comportamento do que pruning.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Essa hipótese será motivada por literatura recente e depois testada no protótipo experimental.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8FB303CE-836B-7025-C434-7222F188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LOGO-SP-PT-HORIZONTAL.png">
            <a:extLst>
              <a:ext uri="{FF2B5EF4-FFF2-40B4-BE49-F238E27FC236}">
                <a16:creationId xmlns:a16="http://schemas.microsoft.com/office/drawing/2014/main" id="{9B7B2419-056B-7B98-BAAB-2C7B37E8E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8608C8A3-49F1-6CDB-0E9D-97C49BE1A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8FCCFB1-AD0A-C3EC-97D7-426D87AD2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4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996B3-3004-6A5A-FF11-D14CC360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8CB1C6-738A-EC38-AB98-3767945585FC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03D19-15AA-6868-F975-BBF7285072F1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9BB9A-8E06-9FFC-22CA-D1D9D8CBEFD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923A8-9465-9BBF-E59F-7F9ABBB08BCE}"/>
              </a:ext>
            </a:extLst>
          </p:cNvPr>
          <p:cNvSpPr txBox="1"/>
          <p:nvPr/>
        </p:nvSpPr>
        <p:spPr>
          <a:xfrm>
            <a:off x="548640" y="457200"/>
            <a:ext cx="20954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OBJETIVOS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2B0E5F-7718-ECC4-4E1A-26177A6E48A5}"/>
              </a:ext>
            </a:extLst>
          </p:cNvPr>
          <p:cNvSpPr/>
          <p:nvPr/>
        </p:nvSpPr>
        <p:spPr>
          <a:xfrm>
            <a:off x="548640" y="1411387"/>
            <a:ext cx="9120016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BF0C5-BCE7-9E7F-97F1-B06D0962DE4D}"/>
              </a:ext>
            </a:extLst>
          </p:cNvPr>
          <p:cNvSpPr txBox="1"/>
          <p:nvPr/>
        </p:nvSpPr>
        <p:spPr>
          <a:xfrm>
            <a:off x="914400" y="1645920"/>
            <a:ext cx="8484433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Analisar o impacto de configurações numéricas e estruturais na inferência de operações centrais do Transformer.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Implementar um modelo simplificado em Python com projeção linear densa e self-attention.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Comparar baseline, pruning por magnitude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>
                <a:latin typeface="Arial" panose="020B0604020202020204" pitchFamily="34" charset="0"/>
              </a:rPr>
              <a:t>Medir latência, memória, FLOPs e qualidade das saídas para discutir os trade-offs.</a:t>
            </a:r>
            <a:endParaRPr dirty="0">
              <a:latin typeface="Arial" panose="020B0604020202020204" pitchFamily="34" charset="0"/>
            </a:endParaRPr>
          </a:p>
        </p:txBody>
      </p:sp>
      <p:pic>
        <p:nvPicPr>
          <p:cNvPr id="14" name="Picture 13" descr="logo_simposio_autalizado copy.png">
            <a:extLst>
              <a:ext uri="{FF2B5EF4-FFF2-40B4-BE49-F238E27FC236}">
                <a16:creationId xmlns:a16="http://schemas.microsoft.com/office/drawing/2014/main" id="{0CB48C5D-129C-BFAB-E262-31E4C119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5" name="Picture 14" descr="fatec_ra_baixada_santista_baixada_santista_rubens_lara_cor.png">
            <a:extLst>
              <a:ext uri="{FF2B5EF4-FFF2-40B4-BE49-F238E27FC236}">
                <a16:creationId xmlns:a16="http://schemas.microsoft.com/office/drawing/2014/main" id="{17D30892-AC95-4919-5F44-0C8A7EBB0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00F8F03-E33E-F01D-C8ED-49BB27815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7" name="Picture 16" descr="LOGO-SP-PT-HORIZONTAL.png">
            <a:extLst>
              <a:ext uri="{FF2B5EF4-FFF2-40B4-BE49-F238E27FC236}">
                <a16:creationId xmlns:a16="http://schemas.microsoft.com/office/drawing/2014/main" id="{239D537F-77DB-AA7A-8C63-14D98000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01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1136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OPERAÇÕES CENTRAIS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projeção linear densa transforma vetores de entrada por multiplicações matriciais em larga escala.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Na atenção, o modelo calcula Q, K e V, produz escores, aplica softmax e gera o vetor de contexto.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Essas duas rotinas concentram custo suficiente para servir como base de comparação entre estratégias de otimização.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92EF013-5231-59FB-3C50-2D2B629CDFED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Q/K/V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projeções iniciais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FA47310-9F43-8367-563B-983F38A2BF9C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22DFB61-BB9E-4418-9F45-779412106A18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Scores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Q × Kᵀ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810EE2FF-26E1-A2FE-B3D6-EE4CDA875D2D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8C9DFD1-9F42-00DB-C1FE-7B026A2A6AC5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Softmax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pesos de atenção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39261DCA-379F-8A20-8FC0-1CC1EE05DDDD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488A1C0-A214-8DB9-9350-DDCEF6BAF71B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Saída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contexto + projeção</a:t>
            </a:r>
          </a:p>
        </p:txBody>
      </p:sp>
    </p:spTree>
    <p:extLst>
      <p:ext uri="{BB962C8B-B14F-4D97-AF65-F5344CB8AC3E}">
        <p14:creationId xmlns:p14="http://schemas.microsoft.com/office/powerpoint/2010/main" val="1942951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67334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QUANTIZAÇÃO: GANHOS E TROCAS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Quantização reduz a precisão numérica usada para armazenar e processar pesos, ativações ou caches.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Em geral, os principais ganhos são menor memória, menor tráfego de dados e potencial aumento de throughput.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risco é introduzir erro numérico; por isso, o trabalho precisa medir qualidade das saídas além de medir custo.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65887E7-F02A-80AA-F7FD-049A06051DE3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bits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representação mais compacta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252C6C2-4542-B611-E04F-B9111A0A748B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Menos memória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menor custo por tensor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DDECB51-20D3-776E-1175-BBED8DF235CC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Mais throughput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potencial ganho em inferência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73EB63-9192-926A-80C8-337BD62A9D04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Pergunta central: quanto erro aparece em troca desses ganhos?</a:t>
            </a:r>
          </a:p>
        </p:txBody>
      </p:sp>
    </p:spTree>
    <p:extLst>
      <p:ext uri="{BB962C8B-B14F-4D97-AF65-F5344CB8AC3E}">
        <p14:creationId xmlns:p14="http://schemas.microsoft.com/office/powerpoint/2010/main" val="207439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39243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PRUNING: GANHOS E LIMITAÇÕES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Pruning remove ou desativa pesos considerados menos relevantes para reduzir o tamanho efetivo do modelo.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economia teórica pode ser relevante, mas o ganho prático depende de implementação e suporte do hardware.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Como altera a estrutura do cálculo, pruning pode introduzir impacto mais imprevisível na saída do modelo.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6505ED6-1FDC-A119-F2FC-F12CE2179D7F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Esparsidade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menos pesos ativos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974B42-A6FD-6A5D-CDBD-00C149128E0E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Ganho prático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depende da execução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1251780-4409-A523-22AF-2D1F46093A95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Risco maior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altera a estrutura do cálculo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81CE306-1037-10D3-5BD5-482F67795A7D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Por isso, pruning entra como comparação importante, mas não como hipótese mais forte.</a:t>
            </a:r>
          </a:p>
        </p:txBody>
      </p:sp>
    </p:spTree>
    <p:extLst>
      <p:ext uri="{BB962C8B-B14F-4D97-AF65-F5344CB8AC3E}">
        <p14:creationId xmlns:p14="http://schemas.microsoft.com/office/powerpoint/2010/main" val="3205101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95930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TURBOQUANT E A HIPÓTESE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Google Research apresentou o TurboQuant em 24 de março de 2026 como técnica voltada à compressão de vetores e do KV cache.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paper está no arXiv desde 28 de abril de 2025 e descreve uma quantização online com baixa distorção.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Para este projeto, isso reforça a hipótese de priorizar quantização no primeiro ciclo experimental.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8569013-A4D5-B9BD-745A-CE94C73F1AE4}"/>
              </a:ext>
            </a:extLst>
          </p:cNvPr>
          <p:cNvSpPr/>
          <p:nvPr/>
        </p:nvSpPr>
        <p:spPr>
          <a:xfrm>
            <a:off x="15303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Blog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Google Research • 24/03/2026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C1F7C1-070E-B362-6689-3A69F946EE0E}"/>
              </a:ext>
            </a:extLst>
          </p:cNvPr>
          <p:cNvSpPr/>
          <p:nvPr/>
        </p:nvSpPr>
        <p:spPr>
          <a:xfrm>
            <a:off x="41084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Paper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arXiv • 28/04/2025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D4F75B0-F251-4035-EA6C-37D2CBCF11DB}"/>
              </a:ext>
            </a:extLst>
          </p:cNvPr>
          <p:cNvSpPr/>
          <p:nvPr/>
        </p:nvSpPr>
        <p:spPr>
          <a:xfrm>
            <a:off x="6686550" y="4648200"/>
            <a:ext cx="2349500" cy="812800"/>
          </a:xfrm>
          <a:prstGeom prst="roundRect">
            <a:avLst/>
          </a:prstGeom>
          <a:gradFill flip="none" rotWithShape="1">
            <a:gsLst>
              <a:gs pos="0">
                <a:srgbClr val="EBF7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27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25C3A"/>
                </a:solidFill>
                <a:latin typeface="Arial" panose="020B0604020202020204" pitchFamily="34" charset="0"/>
              </a:rPr>
              <a:t>Sinal técnico</a:t>
            </a:r>
          </a:p>
          <a:p>
            <a:pPr algn="ctr"/>
            <a:r>
              <a:rPr lang="pt-BR" sz="1100">
                <a:solidFill>
                  <a:srgbClr val="4A6756"/>
                </a:solidFill>
                <a:latin typeface="Arial" panose="020B0604020202020204" pitchFamily="34" charset="0"/>
              </a:rPr>
              <a:t>até 6x menos memória e até 8x speedup reportado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FEBE8A9-36BA-D701-F747-E7930EFE6AFB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Isso motiva a hipótese; não substitui a validação do seu experimento.</a:t>
            </a:r>
          </a:p>
        </p:txBody>
      </p:sp>
    </p:spTree>
    <p:extLst>
      <p:ext uri="{BB962C8B-B14F-4D97-AF65-F5344CB8AC3E}">
        <p14:creationId xmlns:p14="http://schemas.microsoft.com/office/powerpoint/2010/main" val="174735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516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METODOLOGIA: DESENHO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1" y="1280160"/>
            <a:ext cx="9344867" cy="4958648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8229600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estudo compara três cenários: baseline sem otimização, pruning por magnitude em 50% e quantização linear INT8 simulada.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As operações avaliadas são projeção linear densa e self-attention de cabeça única em ambiente controlado.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grade principal usa comprimentos de sequência L = 64, 128, 256 e dimensões D = 128, 256, 512.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332C8369-BFD7-BBC0-8943-F074D2D84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1BC4D2D4-88C3-18FD-B7DF-31E6CF4DB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0DC0587-8CDB-4612-E735-8F8AF082F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C13E21DA-A1ED-9C3C-0F0A-5CE4EB5C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0872877-95AE-05C0-8254-BFBB5483D34E}"/>
              </a:ext>
            </a:extLst>
          </p:cNvPr>
          <p:cNvSpPr/>
          <p:nvPr/>
        </p:nvSpPr>
        <p:spPr>
          <a:xfrm>
            <a:off x="11938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Entrada fixa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mesmos dados e pesos</a:t>
            </a: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593757A9-C8E9-F6A7-CE28-FAB444386BD0}"/>
              </a:ext>
            </a:extLst>
          </p:cNvPr>
          <p:cNvSpPr/>
          <p:nvPr/>
        </p:nvSpPr>
        <p:spPr>
          <a:xfrm>
            <a:off x="30988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0CC366D-82DD-F662-664B-3111AA1BEC16}"/>
              </a:ext>
            </a:extLst>
          </p:cNvPr>
          <p:cNvSpPr/>
          <p:nvPr/>
        </p:nvSpPr>
        <p:spPr>
          <a:xfrm>
            <a:off x="32766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Operações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densa + atenção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0F5A6B18-94E3-F621-82FB-6A52EB6D9C01}"/>
              </a:ext>
            </a:extLst>
          </p:cNvPr>
          <p:cNvSpPr/>
          <p:nvPr/>
        </p:nvSpPr>
        <p:spPr>
          <a:xfrm>
            <a:off x="51816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86F7695-B502-45F3-1FEF-38CD034C2E34}"/>
              </a:ext>
            </a:extLst>
          </p:cNvPr>
          <p:cNvSpPr/>
          <p:nvPr/>
        </p:nvSpPr>
        <p:spPr>
          <a:xfrm>
            <a:off x="53594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C01A4EF2-96E1-51D1-59CD-DF1C16B61D5E}"/>
              </a:ext>
            </a:extLst>
          </p:cNvPr>
          <p:cNvSpPr/>
          <p:nvPr/>
        </p:nvSpPr>
        <p:spPr>
          <a:xfrm>
            <a:off x="7264400" y="5130800"/>
            <a:ext cx="152400" cy="304800"/>
          </a:xfrm>
          <a:prstGeom prst="rightArrow">
            <a:avLst/>
          </a:prstGeom>
          <a:gradFill flip="none" rotWithShape="1">
            <a:gsLst>
              <a:gs pos="0">
                <a:srgbClr val="6E91B4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68A0AEB8-F263-D95A-7C5E-66F5080EBA37}"/>
              </a:ext>
            </a:extLst>
          </p:cNvPr>
          <p:cNvSpPr/>
          <p:nvPr/>
        </p:nvSpPr>
        <p:spPr>
          <a:xfrm>
            <a:off x="7442200" y="4902200"/>
            <a:ext cx="1879600" cy="7366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Comparação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e qualidade</a:t>
            </a:r>
          </a:p>
        </p:txBody>
      </p:sp>
    </p:spTree>
    <p:extLst>
      <p:ext uri="{BB962C8B-B14F-4D97-AF65-F5344CB8AC3E}">
        <p14:creationId xmlns:p14="http://schemas.microsoft.com/office/powerpoint/2010/main" val="268737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64300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METODOLOGIA: MÉTRICAS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ambiente previsto usa Python 3.11, NumPy, PyTorch, Pandas e GPU RTX 4070 Ti Super com batch 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Cada cenário terá aquecimento, repetições e sincronização explícita na GPU para medir latência.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As métricas incluem latência, memória, FLOPs estimados, MSE, MAE, R² e similaridade de cosseno.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FF96273-E66C-BBE7-EF18-6D6F559FD896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Latência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média, p50 e p95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5B643C-D1E5-911B-74B8-AC0A39586918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Memória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pico e estimativa teórica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561107F-28BB-F5E0-ACE0-1FB95440455A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FLOPs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custo analítico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639C41C-F2EE-49F4-01BA-27118D23A135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0F6F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2A6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184072"/>
                </a:solidFill>
                <a:latin typeface="Arial" panose="020B0604020202020204" pitchFamily="34" charset="0"/>
              </a:rPr>
              <a:t>Qualidade</a:t>
            </a:r>
          </a:p>
          <a:p>
            <a:pPr algn="ctr"/>
            <a:r>
              <a:rPr lang="pt-BR" sz="1100">
                <a:solidFill>
                  <a:srgbClr val="5A6978"/>
                </a:solidFill>
                <a:latin typeface="Arial" panose="020B0604020202020204" pitchFamily="34" charset="0"/>
              </a:rPr>
              <a:t>MSE, MAE, R² e cosseno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415AD2-2664-7524-38AB-CFD715F37A19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Controle central: mesma semente, mesmos dados e mesmos pesos-base.</a:t>
            </a:r>
          </a:p>
        </p:txBody>
      </p:sp>
    </p:spTree>
    <p:extLst>
      <p:ext uri="{BB962C8B-B14F-4D97-AF65-F5344CB8AC3E}">
        <p14:creationId xmlns:p14="http://schemas.microsoft.com/office/powerpoint/2010/main" val="408783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0938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RESULTADOS PARCIAIS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código-base já cobre operações, métricas e cenários definidos no plano de trabalho.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pipeline está definido, mas os benchmarks completos ainda dependem da execução com PyTorch e GPU.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Hoje, o projeto já tem hipótese clara, desenho experimental fechado e base pronta para coleta futura.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0A8A7DF-E7BC-4A40-2F8B-AF88160B07A7}"/>
              </a:ext>
            </a:extLst>
          </p:cNvPr>
          <p:cNvSpPr/>
          <p:nvPr/>
        </p:nvSpPr>
        <p:spPr>
          <a:xfrm>
            <a:off x="12065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Código-base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benchmark e métricas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4D699A1-62B6-FCCC-1E9B-2D7A0F583675}"/>
              </a:ext>
            </a:extLst>
          </p:cNvPr>
          <p:cNvSpPr/>
          <p:nvPr/>
        </p:nvSpPr>
        <p:spPr>
          <a:xfrm>
            <a:off x="32893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Cenários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baseline • pruning • INT8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DFCFCE7-6AC2-418A-B100-44B59F9472AD}"/>
              </a:ext>
            </a:extLst>
          </p:cNvPr>
          <p:cNvSpPr/>
          <p:nvPr/>
        </p:nvSpPr>
        <p:spPr>
          <a:xfrm>
            <a:off x="53721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Métricas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latência, memória e erro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4071B48-4B0A-A8F0-1AC9-DECEB61F8609}"/>
              </a:ext>
            </a:extLst>
          </p:cNvPr>
          <p:cNvSpPr/>
          <p:nvPr/>
        </p:nvSpPr>
        <p:spPr>
          <a:xfrm>
            <a:off x="7454900" y="4648200"/>
            <a:ext cx="1905000" cy="812800"/>
          </a:xfrm>
          <a:prstGeom prst="roundRect">
            <a:avLst/>
          </a:prstGeom>
          <a:gradFill flip="none" rotWithShape="1">
            <a:gsLst>
              <a:gs pos="0">
                <a:srgbClr val="F7F4E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19050">
            <a:solidFill>
              <a:srgbClr val="B07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101600" rIns="101600" bIns="101600" rtlCol="0" anchor="ctr"/>
          <a:lstStyle/>
          <a:p>
            <a:pPr algn="ctr"/>
            <a:r>
              <a:rPr lang="pt-BR" sz="1600" b="1">
                <a:solidFill>
                  <a:srgbClr val="7C4D1E"/>
                </a:solidFill>
                <a:latin typeface="Arial" panose="020B0604020202020204" pitchFamily="34" charset="0"/>
              </a:rPr>
              <a:t>Próxima etapa</a:t>
            </a:r>
          </a:p>
          <a:p>
            <a:pPr algn="ctr"/>
            <a:r>
              <a:rPr lang="pt-BR" sz="1100">
                <a:solidFill>
                  <a:srgbClr val="706252"/>
                </a:solidFill>
                <a:latin typeface="Arial" panose="020B0604020202020204" pitchFamily="34" charset="0"/>
              </a:rPr>
              <a:t>execução e coleta dos CSVs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F93FED-6E5A-A7CE-18C6-2F94097D8BD8}"/>
              </a:ext>
            </a:extLst>
          </p:cNvPr>
          <p:cNvSpPr txBox="1"/>
          <p:nvPr/>
        </p:nvSpPr>
        <p:spPr>
          <a:xfrm>
            <a:off x="1117600" y="5588000"/>
            <a:ext cx="812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Apresentação de hoje: projeto em fase inicial, mas já tecnicamente estruturado.</a:t>
            </a:r>
          </a:p>
        </p:txBody>
      </p:sp>
    </p:spTree>
    <p:extLst>
      <p:ext uri="{BB962C8B-B14F-4D97-AF65-F5344CB8AC3E}">
        <p14:creationId xmlns:p14="http://schemas.microsoft.com/office/powerpoint/2010/main" val="1282519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9821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600" b="1">
                <a:solidFill>
                  <a:srgbClr val="00285A"/>
                </a:solidFill>
                <a:latin typeface="Arial"/>
              </a:rPr>
              <a:t>EVIDÊNCIAS DA LITERATURA</a:t>
            </a:r>
            <a:endParaRPr sz="26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9263921" cy="4599432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399" y="1645920"/>
            <a:ext cx="9263921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literatura recente já sugere que quantização pode oferecer grande redução de memória com baixo impacto de qualidade.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Esses dados motivam priorizar quantização como primeira hipótese experimental do trabalho.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5" name="Picture 14" descr="logo_simposio_autalizado copy.png">
            <a:extLst>
              <a:ext uri="{FF2B5EF4-FFF2-40B4-BE49-F238E27FC236}">
                <a16:creationId xmlns:a16="http://schemas.microsoft.com/office/drawing/2014/main" id="{4A1C8EAD-DEE5-F23F-7A0D-5D49210A0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0AD990B1-8DA7-C198-EFA7-CD949ADC7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DAF9CC4-5951-F0D0-4DDF-2C7DA550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F9E6099B-9869-B61B-B499-986456A44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329750D-A3E4-2897-9C80-81E5C2DAA738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3048000"/>
            <a:ext cx="8763000" cy="2794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F4BD6DF-2852-0C23-0E06-C4FDB2E1DB62}"/>
              </a:ext>
            </a:extLst>
          </p:cNvPr>
          <p:cNvSpPr txBox="1"/>
          <p:nvPr/>
        </p:nvSpPr>
        <p:spPr>
          <a:xfrm>
            <a:off x="939800" y="5867400"/>
            <a:ext cx="863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300">
                <a:solidFill>
                  <a:srgbClr val="3C3C3C"/>
                </a:solidFill>
                <a:latin typeface="Arial" panose="020B0604020202020204" pitchFamily="34" charset="0"/>
              </a:rPr>
              <a:t>Figura adaptada do Google Research Blog, 24/03/2026. Não representa resultado deste trabalho.</a:t>
            </a:r>
          </a:p>
        </p:txBody>
      </p:sp>
    </p:spTree>
    <p:extLst>
      <p:ext uri="{BB962C8B-B14F-4D97-AF65-F5344CB8AC3E}">
        <p14:creationId xmlns:p14="http://schemas.microsoft.com/office/powerpoint/2010/main" val="3415066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7338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2400" b="1">
                <a:solidFill>
                  <a:srgbClr val="00285A"/>
                </a:solidFill>
                <a:latin typeface="Arial"/>
              </a:rPr>
              <a:t>CONCLUSÕES E PRÓXIMOS PASSOS</a:t>
            </a:r>
            <a:endParaRPr sz="2400" b="1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106992"/>
            <a:ext cx="87902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409" y="1495327"/>
            <a:ext cx="7839857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Eficiência em Transformers é relevante porque tempo, memória e qualidade precisam ser equilibrados na inferência.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Quantização aparece como a hipótese inicial mais forte, reforçada por literatura recente como TurboQuant.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O projeto já tem desenho experimental consistente e a próxima etapa é executar benchmarks e analisar os CSVs.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600">
                <a:latin typeface="Arial" panose="020B0604020202020204" pitchFamily="34" charset="0"/>
              </a:rPr>
              <a:t>A expectativa é comparar ganho computacional e preservação da saída em cenários controlados.</a:t>
            </a:r>
            <a:endParaRPr sz="1600" dirty="0">
              <a:latin typeface="Arial" panose="020B0604020202020204" pitchFamily="34" charset="0"/>
            </a:endParaRPr>
          </a:p>
        </p:txBody>
      </p:sp>
      <p:pic>
        <p:nvPicPr>
          <p:cNvPr id="13" name="Picture 12" descr="logo_simposio_autalizado copy.png">
            <a:extLst>
              <a:ext uri="{FF2B5EF4-FFF2-40B4-BE49-F238E27FC236}">
                <a16:creationId xmlns:a16="http://schemas.microsoft.com/office/drawing/2014/main" id="{DCAAEDCA-5BC2-868B-B898-4DFFDDEB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4" name="Picture 13" descr="fatec_ra_baixada_santista_baixada_santista_rubens_lara_cor.png">
            <a:extLst>
              <a:ext uri="{FF2B5EF4-FFF2-40B4-BE49-F238E27FC236}">
                <a16:creationId xmlns:a16="http://schemas.microsoft.com/office/drawing/2014/main" id="{4EF2ED9A-FCF3-7342-5A0D-09C141B26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8857" y="2329489"/>
            <a:ext cx="2031985" cy="107053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CA1862F-3920-E68C-6981-B5672148E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6" name="Picture 15" descr="LOGO-SP-PT-HORIZONTAL.png">
            <a:extLst>
              <a:ext uri="{FF2B5EF4-FFF2-40B4-BE49-F238E27FC236}">
                <a16:creationId xmlns:a16="http://schemas.microsoft.com/office/drawing/2014/main" id="{29F7F173-EB9C-EA99-973F-8FD1CEFD94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33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F223-B7D5-3C79-2F98-18838114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DEE0A5-2622-6344-EF04-68EEAB930558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8ACF2-7206-91E1-039E-92E3D189B38C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620FE-0712-832F-2CBE-8F4D8C1A1D62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CFB53-5DB2-E441-0281-CD14A5C6F289}"/>
              </a:ext>
            </a:extLst>
          </p:cNvPr>
          <p:cNvSpPr txBox="1"/>
          <p:nvPr/>
        </p:nvSpPr>
        <p:spPr>
          <a:xfrm>
            <a:off x="548640" y="457200"/>
            <a:ext cx="257474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>
                <a:solidFill>
                  <a:srgbClr val="00285A"/>
                </a:solidFill>
                <a:latin typeface="Arial"/>
              </a:rPr>
              <a:t>REFERÊNCIAS</a:t>
            </a:r>
            <a:endParaRPr sz="2600" b="1" dirty="0">
              <a:solidFill>
                <a:srgbClr val="00285A"/>
              </a:solidFill>
              <a:latin typeface="Arial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510F56-8D51-09E9-0903-555AB0C408B2}"/>
              </a:ext>
            </a:extLst>
          </p:cNvPr>
          <p:cNvSpPr/>
          <p:nvPr/>
        </p:nvSpPr>
        <p:spPr>
          <a:xfrm>
            <a:off x="548640" y="1106992"/>
            <a:ext cx="9389839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72FF-31C7-500F-95E5-423CCBD8B79E}"/>
              </a:ext>
            </a:extLst>
          </p:cNvPr>
          <p:cNvSpPr txBox="1"/>
          <p:nvPr/>
        </p:nvSpPr>
        <p:spPr>
          <a:xfrm>
            <a:off x="899409" y="1495327"/>
            <a:ext cx="783985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Bibi, U. et al. Advances in pruning and quantization for natural language processing. IEEE Access,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Google Research. TurboQuant: Redefining AI efficiency with extreme compression. 24 mar. 2026.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Hossain, M. B.; Gong, N.; Shaban, M. A Novel Attention-Based Layer Pruning Approach...,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Tang, Y. et al. A survey on transformer compression. arXiv:2402.05964, 2024.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Vaswani, A. et al. Attention Is All You Need. NeurIPS, 2017.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282828"/>
                </a:solidFill>
                <a:latin typeface="Arial"/>
              </a:defRPr>
            </a:pPr>
            <a:r>
              <a:rPr lang="pt-BR" sz="1400" noProof="0">
                <a:latin typeface="Arial" panose="020B0604020202020204" pitchFamily="34" charset="0"/>
              </a:rPr>
              <a:t>Zandieh, A. et al. TurboQuant: Online Vector Quantization with Near-optimal Distortion Rate. arXiv:2504.19874, 2025.</a:t>
            </a:r>
            <a:endParaRPr lang="pt-BR" sz="1400" noProof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fatec_ra_baixada_santista_baixada_santista_rubens_lara_cor.png">
            <a:extLst>
              <a:ext uri="{FF2B5EF4-FFF2-40B4-BE49-F238E27FC236}">
                <a16:creationId xmlns:a16="http://schemas.microsoft.com/office/drawing/2014/main" id="{6657C4D2-96CF-82E4-2B57-5C87D8385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321" y="2329489"/>
            <a:ext cx="1972521" cy="1070536"/>
          </a:xfrm>
          <a:prstGeom prst="rect">
            <a:avLst/>
          </a:prstGeom>
        </p:spPr>
      </p:pic>
      <p:pic>
        <p:nvPicPr>
          <p:cNvPr id="10" name="Picture 9" descr="logo_simposio_autalizado copy.png">
            <a:extLst>
              <a:ext uri="{FF2B5EF4-FFF2-40B4-BE49-F238E27FC236}">
                <a16:creationId xmlns:a16="http://schemas.microsoft.com/office/drawing/2014/main" id="{FDAA8367-43FC-29AE-70A6-277F2C28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604" y="330339"/>
            <a:ext cx="2137238" cy="14225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7D2A2F6-4DFD-EA0D-5F4E-27F7DEA26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7106" y="3787456"/>
            <a:ext cx="1394639" cy="1044107"/>
          </a:xfrm>
          <a:prstGeom prst="rect">
            <a:avLst/>
          </a:prstGeom>
        </p:spPr>
      </p:pic>
      <p:pic>
        <p:nvPicPr>
          <p:cNvPr id="14" name="Picture 13" descr="LOGO-SP-PT-HORIZONTAL.png">
            <a:extLst>
              <a:ext uri="{FF2B5EF4-FFF2-40B4-BE49-F238E27FC236}">
                <a16:creationId xmlns:a16="http://schemas.microsoft.com/office/drawing/2014/main" id="{E5A9E87F-09BB-140E-74C5-5FAF6667A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656" y="5452200"/>
            <a:ext cx="2627120" cy="10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94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4FB5B-5E4C-8486-7073-B8FC4C1AB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E0785-902D-2971-436A-141429C13932}"/>
              </a:ext>
            </a:extLst>
          </p:cNvPr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2AC71E-F7AF-41C1-1AD8-A5FA979A8B1A}"/>
              </a:ext>
            </a:extLst>
          </p:cNvPr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AED13-FD7E-53FB-11A5-E917BD7AAA8D}"/>
              </a:ext>
            </a:extLst>
          </p:cNvPr>
          <p:cNvSpPr/>
          <p:nvPr/>
        </p:nvSpPr>
        <p:spPr>
          <a:xfrm>
            <a:off x="0" y="228600"/>
            <a:ext cx="137160" cy="64008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simposio_autalizado copy.png">
            <a:extLst>
              <a:ext uri="{FF2B5EF4-FFF2-40B4-BE49-F238E27FC236}">
                <a16:creationId xmlns:a16="http://schemas.microsoft.com/office/drawing/2014/main" id="{EC6AFCF6-C77F-24B5-EA20-4380A909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509" y="256032"/>
            <a:ext cx="3179736" cy="21163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22BFB0-6DD2-7534-7C40-F058115854F0}"/>
              </a:ext>
            </a:extLst>
          </p:cNvPr>
          <p:cNvSpPr txBox="1"/>
          <p:nvPr/>
        </p:nvSpPr>
        <p:spPr>
          <a:xfrm>
            <a:off x="1484026" y="2834640"/>
            <a:ext cx="88486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600" b="1">
                <a:latin typeface="Arial"/>
              </a:rPr>
              <a:t>OBRIGADO!</a:t>
            </a:r>
            <a:endParaRPr sz="2600" b="1" dirty="0">
              <a:latin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09F60-BB90-F93B-D304-38C347C27FF8}"/>
              </a:ext>
            </a:extLst>
          </p:cNvPr>
          <p:cNvSpPr txBox="1"/>
          <p:nvPr/>
        </p:nvSpPr>
        <p:spPr>
          <a:xfrm>
            <a:off x="1618938" y="3657600"/>
            <a:ext cx="8439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>
                <a:latin typeface="Arial"/>
              </a:rPr>
              <a:t>Perguntas e discussão</a:t>
            </a:r>
            <a:endParaRPr sz="2000" dirty="0">
              <a:latin typeface="Arial"/>
            </a:endParaRPr>
          </a:p>
        </p:txBody>
      </p:sp>
      <p:pic>
        <p:nvPicPr>
          <p:cNvPr id="16" name="Picture 15" descr="fatec_ra_baixada_santista_baixada_santista_rubens_lara_cor.png">
            <a:extLst>
              <a:ext uri="{FF2B5EF4-FFF2-40B4-BE49-F238E27FC236}">
                <a16:creationId xmlns:a16="http://schemas.microsoft.com/office/drawing/2014/main" id="{382589CE-4468-C1A9-5D00-930B3B60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19" y="487641"/>
            <a:ext cx="2277510" cy="119989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50049A0-D96F-520F-3F6B-C07367FBB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7656" y="378430"/>
            <a:ext cx="1513238" cy="997739"/>
          </a:xfrm>
          <a:prstGeom prst="rect">
            <a:avLst/>
          </a:prstGeom>
        </p:spPr>
      </p:pic>
      <p:pic>
        <p:nvPicPr>
          <p:cNvPr id="18" name="Picture 17" descr="LOGO-SP-PT-HORIZONTAL.png">
            <a:extLst>
              <a:ext uri="{FF2B5EF4-FFF2-40B4-BE49-F238E27FC236}">
                <a16:creationId xmlns:a16="http://schemas.microsoft.com/office/drawing/2014/main" id="{6252AAE9-A2C3-2BAD-E999-9F030C462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27275"/>
            <a:ext cx="3710496" cy="151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2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1227</Words>
  <Application>Microsoft Office PowerPoint</Application>
  <PresentationFormat>Personalizar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Galvao</cp:lastModifiedBy>
  <cp:revision>4</cp:revision>
  <dcterms:created xsi:type="dcterms:W3CDTF">2013-01-27T09:14:16Z</dcterms:created>
  <dcterms:modified xsi:type="dcterms:W3CDTF">2026-05-25T21:01:33Z</dcterms:modified>
  <cp:category/>
</cp:coreProperties>
</file>