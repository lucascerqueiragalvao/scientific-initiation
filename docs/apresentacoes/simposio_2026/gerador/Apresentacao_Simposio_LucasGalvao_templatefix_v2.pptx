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766"/>
  </p:normalViewPr>
  <p:slideViewPr>
    <p:cSldViewPr snapToGrid="0" snapToObjects="1">
      <p:cViewPr varScale="1">
        <p:scale>
          <a:sx n="86" d="100"/>
          <a:sy n="86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simposio_autalizado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055" y="2450972"/>
            <a:ext cx="823345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 b="1">
                <a:solidFill>
                  <a:srgbClr val="00285A"/>
                </a:solidFill>
                <a:latin typeface="Arial"/>
              </a:rPr>
              <a:t>Eficiência computacional em operações de Transformers</a:t>
            </a:r>
          </a:p>
          <a:p>
            <a:r>
              <a:rPr lang="pt-BR">
                <a:solidFill>
                  <a:srgbClr val="00285A"/>
                </a:solidFill>
                <a:latin typeface="Arial"/>
              </a:rPr>
              <a:t>quantização, pruning e análise experimental</a:t>
            </a:r>
            <a:endParaRPr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577" y="3763418"/>
            <a:ext cx="53399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noProof="0">
                <a:solidFill>
                  <a:srgbClr val="004C99"/>
                </a:solidFill>
                <a:latin typeface="Arial"/>
              </a:rPr>
              <a:t>Lucas Cerqueira Galvão</a:t>
            </a:r>
          </a:p>
          <a:p>
            <a:r>
              <a:rPr lang="pt-BR" sz="2000" b="1" noProof="0">
                <a:solidFill>
                  <a:srgbClr val="004C99"/>
                </a:solidFill>
                <a:latin typeface="Arial"/>
              </a:rPr>
              <a:t>Orientador: Prof. Me. Walter Silva Oliveira</a:t>
            </a:r>
            <a:endParaRPr lang="pt-BR" sz="2000" b="1" noProof="0" dirty="0">
              <a:solidFill>
                <a:srgbClr val="004C99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4577" y="5518700"/>
            <a:ext cx="5180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noProof="0">
                <a:solidFill>
                  <a:srgbClr val="228B22"/>
                </a:solidFill>
                <a:latin typeface="Arial"/>
              </a:rPr>
              <a:t>Universidade Católica de Santos • Ciência da Computação • Santos/SP</a:t>
            </a:r>
            <a:endParaRPr lang="pt-BR" b="1" noProof="0" dirty="0">
              <a:solidFill>
                <a:srgbClr val="228B22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577" y="5951499"/>
            <a:ext cx="699646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b="1" noProof="0">
                <a:solidFill>
                  <a:srgbClr val="FF8C00"/>
                </a:solidFill>
                <a:latin typeface="Arial"/>
              </a:rPr>
              <a:t>I Simpósio de Ciência de Dados das Fatecs • Santos/SP • 2026</a:t>
            </a:r>
            <a:endParaRPr lang="pt-BR" b="1" noProof="0" dirty="0">
              <a:solidFill>
                <a:srgbClr val="FF8C00"/>
              </a:solidFill>
              <a:latin typeface="Arial"/>
            </a:endParaRPr>
          </a:p>
        </p:txBody>
      </p:sp>
      <p:pic>
        <p:nvPicPr>
          <p:cNvPr id="11" name="Picture 10" descr="LOGO-SP-PT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16B564F0-BDD5-81DC-6BB8-8ABFE9C22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BA0C249-E168-69C1-1279-050445212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8197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ROTEIRO</a:t>
            </a:r>
            <a:endParaRPr sz="28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026352"/>
            <a:ext cx="6746001" cy="5123125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8479" y="1080702"/>
            <a:ext cx="5047410" cy="396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600"/>
              <a:t>1. Contexto e problema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600"/>
              <a:t>2. Operações e estratégias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600"/>
              <a:t>3. TurboQuant e hipótese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600"/>
              <a:t>4. Metodologia e andamento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600"/>
              <a:t>5. Evidências e conclusões</a:t>
            </a:r>
            <a:endParaRPr sz="2600" dirty="0"/>
          </a:p>
        </p:txBody>
      </p:sp>
      <p:pic>
        <p:nvPicPr>
          <p:cNvPr id="11" name="Picture 10" descr="logo_simposio_autalizado copy.png">
            <a:extLst>
              <a:ext uri="{FF2B5EF4-FFF2-40B4-BE49-F238E27FC236}">
                <a16:creationId xmlns:a16="http://schemas.microsoft.com/office/drawing/2014/main" id="{1F0FC765-FC95-11A0-2C24-B9330F55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522" y="376147"/>
            <a:ext cx="3839304" cy="2555373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403092DF-7488-F519-D7E5-03BD0D19B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300" y="3079067"/>
            <a:ext cx="2514737" cy="1324871"/>
          </a:xfrm>
          <a:prstGeom prst="rect">
            <a:avLst/>
          </a:prstGeom>
        </p:spPr>
      </p:pic>
      <p:pic>
        <p:nvPicPr>
          <p:cNvPr id="13" name="Picture 12" descr="LOGO-SP-PT-HORIZONTAL.png">
            <a:extLst>
              <a:ext uri="{FF2B5EF4-FFF2-40B4-BE49-F238E27FC236}">
                <a16:creationId xmlns:a16="http://schemas.microsoft.com/office/drawing/2014/main" id="{2ED83781-1F2C-44A7-DC61-C25124FA5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172" y="5294398"/>
            <a:ext cx="3710496" cy="151896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70B17F3-7F2D-DB19-3F97-65A6750EF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3292" y="4479007"/>
            <a:ext cx="1668565" cy="110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1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6109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TRANSFORMERS E A IA ATUAL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Transformers são a base de LLMs, visão computacional e multimodalidade.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Eles combinam paralelização com modelagem de dependências de longo alcance.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Por isso, eficiência passou a ser uma questão prática e não opcional.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2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3342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CUSTO DA INFERÊNCIA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 custo cresce com sequência, dimensão e número de camadas.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Em produção, latência, memória e throughput viram restrições simultâneas.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Otimizar inferência é essencial para viabilizar modelos em hardware real.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43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3851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GARGALOS PRINCIPAIS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Atenção compara tokens entre si e cresce com o contexto.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Projeções densas repetem multiplicações matriciais em larga escala.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KV cache amplia a pressão de memória em contextos longos.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0B1983F-2312-1B67-D8F4-5717BB2FBFB7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Atenção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comparações entre tokens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EA5410A-79C5-008A-95FC-521AF79F7502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Projeções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matrizes densas repetidas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188A705-9024-9319-50FA-3DEB0D2B42E1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KV cache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memória cresce com contexto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07AA6D5-D786-F010-56FC-B60778DC6E44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Foco do trabalho: eficiência em inferência.</a:t>
            </a:r>
          </a:p>
        </p:txBody>
      </p:sp>
    </p:spTree>
    <p:extLst>
      <p:ext uri="{BB962C8B-B14F-4D97-AF65-F5344CB8AC3E}">
        <p14:creationId xmlns:p14="http://schemas.microsoft.com/office/powerpoint/2010/main" val="222003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4769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PROBLEMA E HIPÓTESE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Problema: reduzir custo sem degradar excessivamente a saída.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Recorte: projeções densas e self-attention em inferência controlada.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Hipótese: quantização tende a ter melhor trade-off que pruning.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996B3-3004-6A5A-FF11-D14CC360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8CB1C6-738A-EC38-AB98-3767945585FC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03D19-15AA-6868-F975-BBF7285072F1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9BB9A-8E06-9FFC-22CA-D1D9D8CBEFD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923A8-9465-9BBF-E59F-7F9ABBB08BCE}"/>
              </a:ext>
            </a:extLst>
          </p:cNvPr>
          <p:cNvSpPr txBox="1"/>
          <p:nvPr/>
        </p:nvSpPr>
        <p:spPr>
          <a:xfrm>
            <a:off x="548640" y="457200"/>
            <a:ext cx="22381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OBJETIVOS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2B0E5F-7718-ECC4-4E1A-26177A6E48A5}"/>
              </a:ext>
            </a:extLst>
          </p:cNvPr>
          <p:cNvSpPr/>
          <p:nvPr/>
        </p:nvSpPr>
        <p:spPr>
          <a:xfrm>
            <a:off x="548640" y="1411387"/>
            <a:ext cx="91200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BF0C5-BCE7-9E7F-97F1-B06D0962DE4D}"/>
              </a:ext>
            </a:extLst>
          </p:cNvPr>
          <p:cNvSpPr txBox="1"/>
          <p:nvPr/>
        </p:nvSpPr>
        <p:spPr>
          <a:xfrm>
            <a:off x="914400" y="1645920"/>
            <a:ext cx="8484433" cy="256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Implementar um protótipo simplificado de operações centrais do Transformer.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Comparar baseline, pruning por magnitude e quantização INT8 simulada.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Medir custo computacional e qualidade das saídas.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logo_simposio_autalizado copy.png">
            <a:extLst>
              <a:ext uri="{FF2B5EF4-FFF2-40B4-BE49-F238E27FC236}">
                <a16:creationId xmlns:a16="http://schemas.microsoft.com/office/drawing/2014/main" id="{0CB48C5D-129C-BFAB-E262-31E4C119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fatec_ra_baixada_santista_baixada_santista_rubens_lara_cor.png">
            <a:extLst>
              <a:ext uri="{FF2B5EF4-FFF2-40B4-BE49-F238E27FC236}">
                <a16:creationId xmlns:a16="http://schemas.microsoft.com/office/drawing/2014/main" id="{17D30892-AC95-4919-5F44-0C8A7EBB0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00F8F03-E33E-F01D-C8ED-49BB27815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7" name="Picture 16" descr="LOGO-SP-PT-HORIZONTAL.png">
            <a:extLst>
              <a:ext uri="{FF2B5EF4-FFF2-40B4-BE49-F238E27FC236}">
                <a16:creationId xmlns:a16="http://schemas.microsoft.com/office/drawing/2014/main" id="{239D537F-77DB-AA7A-8C63-14D98000F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78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0126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PROJEÇÕES DENSAS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256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Projeções densas transformam vetores por multiplicações com matrizes de pesos.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Elas aparecem em Q, K, V e em camadas lineares do bloco Transformer.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Por isso concentram custo relevante mesmo fora da atenção.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3FFCD4B-B207-0CA9-F70B-00F8A7043F24}"/>
              </a:ext>
            </a:extLst>
          </p:cNvPr>
          <p:cNvSpPr/>
          <p:nvPr/>
        </p:nvSpPr>
        <p:spPr>
          <a:xfrm>
            <a:off x="11938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Entrada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vetor ou lote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637482AD-CFC0-BE85-94EF-BA0317D6B6C2}"/>
              </a:ext>
            </a:extLst>
          </p:cNvPr>
          <p:cNvSpPr/>
          <p:nvPr/>
        </p:nvSpPr>
        <p:spPr>
          <a:xfrm>
            <a:off x="30988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2EAC0C4-328B-4CC2-CEB8-855AA555446A}"/>
              </a:ext>
            </a:extLst>
          </p:cNvPr>
          <p:cNvSpPr/>
          <p:nvPr/>
        </p:nvSpPr>
        <p:spPr>
          <a:xfrm>
            <a:off x="32766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Pesos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matriz densa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0FC344A7-20F8-EFE2-2C53-A5F547030508}"/>
              </a:ext>
            </a:extLst>
          </p:cNvPr>
          <p:cNvSpPr/>
          <p:nvPr/>
        </p:nvSpPr>
        <p:spPr>
          <a:xfrm>
            <a:off x="51816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FBDE3AF-4193-65D8-D757-7480213E932F}"/>
              </a:ext>
            </a:extLst>
          </p:cNvPr>
          <p:cNvSpPr/>
          <p:nvPr/>
        </p:nvSpPr>
        <p:spPr>
          <a:xfrm>
            <a:off x="53594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Produto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multiplicação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E1294B28-8089-3A8D-3ADC-786BE187528A}"/>
              </a:ext>
            </a:extLst>
          </p:cNvPr>
          <p:cNvSpPr/>
          <p:nvPr/>
        </p:nvSpPr>
        <p:spPr>
          <a:xfrm>
            <a:off x="72644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88F0D0B-E3C3-04FC-F625-F17FF521B8E5}"/>
              </a:ext>
            </a:extLst>
          </p:cNvPr>
          <p:cNvSpPr/>
          <p:nvPr/>
        </p:nvSpPr>
        <p:spPr>
          <a:xfrm>
            <a:off x="74422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Saída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nova representação</a:t>
            </a:r>
          </a:p>
        </p:txBody>
      </p:sp>
    </p:spTree>
    <p:extLst>
      <p:ext uri="{BB962C8B-B14F-4D97-AF65-F5344CB8AC3E}">
        <p14:creationId xmlns:p14="http://schemas.microsoft.com/office/powerpoint/2010/main" val="4074372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5633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SELF-ATTENTION E KV CACHE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Self-attention gera Q, K e V, calcula escores e aplica softmax.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 KV cache reduz recomputação, mas cresce com o comprimento da sequência.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Essa combinação afeta simultaneamente latência e memória.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CC68466-FC49-6E6F-41A9-B3CCCFC418CE}"/>
              </a:ext>
            </a:extLst>
          </p:cNvPr>
          <p:cNvSpPr/>
          <p:nvPr/>
        </p:nvSpPr>
        <p:spPr>
          <a:xfrm>
            <a:off x="11938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Q/K/V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projeções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FDF69BEE-2EC8-AB6C-5918-8C2F0F42B3F2}"/>
              </a:ext>
            </a:extLst>
          </p:cNvPr>
          <p:cNvSpPr/>
          <p:nvPr/>
        </p:nvSpPr>
        <p:spPr>
          <a:xfrm>
            <a:off x="30988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97CC16E-CE9A-F57F-09F5-38D8F7BA1CBC}"/>
              </a:ext>
            </a:extLst>
          </p:cNvPr>
          <p:cNvSpPr/>
          <p:nvPr/>
        </p:nvSpPr>
        <p:spPr>
          <a:xfrm>
            <a:off x="32766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fr-FR" sz="1600" b="1">
                <a:solidFill>
                  <a:srgbClr val="184072"/>
                </a:solidFill>
                <a:latin typeface="Arial" panose="020B0604020202020204" pitchFamily="34" charset="0"/>
              </a:rPr>
              <a:t>Scores</a:t>
            </a:r>
          </a:p>
          <a:p>
            <a:pPr algn="ctr"/>
            <a:r>
              <a:rPr lang="fr-FR" sz="1100">
                <a:solidFill>
                  <a:srgbClr val="5A6978"/>
                </a:solidFill>
                <a:latin typeface="Arial" panose="020B0604020202020204" pitchFamily="34" charset="0"/>
              </a:rPr>
              <a:t>Q x K^T</a:t>
            </a:r>
            <a:endParaRPr lang="pt-BR" sz="1100">
              <a:solidFill>
                <a:srgbClr val="5A6978"/>
              </a:solidFill>
              <a:latin typeface="Arial" panose="020B0604020202020204" pitchFamily="34" charset="0"/>
            </a:endParaRP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889FE92D-4B39-7FA3-D4E3-E445E1F5B8BA}"/>
              </a:ext>
            </a:extLst>
          </p:cNvPr>
          <p:cNvSpPr/>
          <p:nvPr/>
        </p:nvSpPr>
        <p:spPr>
          <a:xfrm>
            <a:off x="51816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9B1F88C-8A01-EC4D-4D3A-A55155348285}"/>
              </a:ext>
            </a:extLst>
          </p:cNvPr>
          <p:cNvSpPr/>
          <p:nvPr/>
        </p:nvSpPr>
        <p:spPr>
          <a:xfrm>
            <a:off x="53594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Softmax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pesos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95DA2587-3A49-6B60-F4E4-630FC6E8FE79}"/>
              </a:ext>
            </a:extLst>
          </p:cNvPr>
          <p:cNvSpPr/>
          <p:nvPr/>
        </p:nvSpPr>
        <p:spPr>
          <a:xfrm>
            <a:off x="72644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0060D34-6310-12BD-81B2-CCBCB7670653}"/>
              </a:ext>
            </a:extLst>
          </p:cNvPr>
          <p:cNvSpPr/>
          <p:nvPr/>
        </p:nvSpPr>
        <p:spPr>
          <a:xfrm>
            <a:off x="74422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Cache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memória no contexto</a:t>
            </a:r>
          </a:p>
        </p:txBody>
      </p:sp>
    </p:spTree>
    <p:extLst>
      <p:ext uri="{BB962C8B-B14F-4D97-AF65-F5344CB8AC3E}">
        <p14:creationId xmlns:p14="http://schemas.microsoft.com/office/powerpoint/2010/main" val="178347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8392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QUANTIZAÇÃO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Quantização reduz a precisão numérica de pesos, ativações ou caches.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Os ganhos esperados são menor memória e maior throughput.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 principal risco é introduzir erro numérico na saída.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362188E-B4F1-FD13-C42B-6B98D01A08E2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Menos bits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representação compacta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6C41C35-0108-AD80-F2A1-F533EAA22D59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Menos memória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menor custo por tensor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3E526D2-F0DE-B6E9-6CF5-1E8E182BC022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Mais throughput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potencial ganho real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BD6C025-F5AA-F9CE-A2AF-D30CB1A42001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Pergunta central: quanto erro aparece em troca desses ganhos?</a:t>
            </a:r>
          </a:p>
        </p:txBody>
      </p:sp>
    </p:spTree>
    <p:extLst>
      <p:ext uri="{BB962C8B-B14F-4D97-AF65-F5344CB8AC3E}">
        <p14:creationId xmlns:p14="http://schemas.microsoft.com/office/powerpoint/2010/main" val="3050077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8405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PRUNING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Pruning remove pesos menos relevantes e induz esparsidade.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A economia teórica pode ser alta, mas o ganho depende do hardware.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 efeito na saída tende a ser menos previsível.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22DF360-46EE-7F0E-977F-6CE91D3C9B41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Esparsidade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menos pesos ativos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47D3496-E030-DBC0-37B8-FF451808AA76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Ganho prático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depende da execução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061A259-99B8-C7B3-0731-AAB96EBCF3D5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Risco estrutural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altera o cálculo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F8B6057-A428-9DEF-2E60-EC6E03814544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Pruning entra como comparação importante, não como hipótese principal.</a:t>
            </a:r>
          </a:p>
        </p:txBody>
      </p:sp>
    </p:spTree>
    <p:extLst>
      <p:ext uri="{BB962C8B-B14F-4D97-AF65-F5344CB8AC3E}">
        <p14:creationId xmlns:p14="http://schemas.microsoft.com/office/powerpoint/2010/main" val="3224236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7398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TURBOQUANT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56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Google Research divulgou o TurboQuant em 24/03/2026; o paper está no arXiv desde 28/04/2025.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 foco está em compressão de vetores e do KV cache para inferência.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Para este projeto, ele reforça a prioridade da quantização.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3854174-B33B-03D5-F5D4-8C13C53BCFE3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Blog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Google Research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01A18C3-A873-4AD8-D2B7-F1F8C2555A7B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Paper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arXiv 2504.19874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706163E-4743-8F75-BDEC-D2EB6FD61339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Sinal técnico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menos memória e mais velocidade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ED0F85C-F9E7-1D77-86F1-021284183995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Isso motiva a hipótese; não substitui a validação experimental.</a:t>
            </a:r>
          </a:p>
        </p:txBody>
      </p:sp>
    </p:spTree>
    <p:extLst>
      <p:ext uri="{BB962C8B-B14F-4D97-AF65-F5344CB8AC3E}">
        <p14:creationId xmlns:p14="http://schemas.microsoft.com/office/powerpoint/2010/main" val="2174164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8846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METODOLOGIA: DESENHO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Comparação entre baseline, pruning 50% e quantização INT8 simulada.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Operações: projeção densa e self-attention de cabeça única.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Grade: L = 64, 128, 256 e D = 128, 256, 512.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D3363DA-5C6C-5EB3-00FD-560E5E2F897D}"/>
              </a:ext>
            </a:extLst>
          </p:cNvPr>
          <p:cNvSpPr/>
          <p:nvPr/>
        </p:nvSpPr>
        <p:spPr>
          <a:xfrm>
            <a:off x="11938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Entrada fixa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mesmos dados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C25A7F1A-4E29-4FF4-E440-93B3F12A327C}"/>
              </a:ext>
            </a:extLst>
          </p:cNvPr>
          <p:cNvSpPr/>
          <p:nvPr/>
        </p:nvSpPr>
        <p:spPr>
          <a:xfrm>
            <a:off x="30988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ACEA66B-132A-C0D5-B614-0DA51217D57A}"/>
              </a:ext>
            </a:extLst>
          </p:cNvPr>
          <p:cNvSpPr/>
          <p:nvPr/>
        </p:nvSpPr>
        <p:spPr>
          <a:xfrm>
            <a:off x="32766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Operações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densa + atenção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E19064B3-FC9E-AB88-8504-42C8FE513F34}"/>
              </a:ext>
            </a:extLst>
          </p:cNvPr>
          <p:cNvSpPr/>
          <p:nvPr/>
        </p:nvSpPr>
        <p:spPr>
          <a:xfrm>
            <a:off x="51816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5E351C5-B74B-DD30-3074-1DF53E1DF96F}"/>
              </a:ext>
            </a:extLst>
          </p:cNvPr>
          <p:cNvSpPr/>
          <p:nvPr/>
        </p:nvSpPr>
        <p:spPr>
          <a:xfrm>
            <a:off x="53594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Cenários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base, pruning, INT8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78C2BC01-C67E-94AF-471F-0AD205D6260E}"/>
              </a:ext>
            </a:extLst>
          </p:cNvPr>
          <p:cNvSpPr/>
          <p:nvPr/>
        </p:nvSpPr>
        <p:spPr>
          <a:xfrm>
            <a:off x="72644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34F39A5-7528-E001-5000-5E9A3ED09FAB}"/>
              </a:ext>
            </a:extLst>
          </p:cNvPr>
          <p:cNvSpPr/>
          <p:nvPr/>
        </p:nvSpPr>
        <p:spPr>
          <a:xfrm>
            <a:off x="74422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Saída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custo e qualidade</a:t>
            </a:r>
          </a:p>
        </p:txBody>
      </p:sp>
    </p:spTree>
    <p:extLst>
      <p:ext uri="{BB962C8B-B14F-4D97-AF65-F5344CB8AC3E}">
        <p14:creationId xmlns:p14="http://schemas.microsoft.com/office/powerpoint/2010/main" val="3333389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9855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METODOLOGIA: MÉTRICAS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Ambiente: Python 3.11, PyTorch, NumPy, Pandas e RTX 4070 Ti Super.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Procedimento: aquecimento, repetições e sincronização para latência.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Métricas: latência, memória, FLOPs, MSE, MAE, R² e cosseno.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36B9690-8A60-FEB4-BCD7-5DB155646A98}"/>
              </a:ext>
            </a:extLst>
          </p:cNvPr>
          <p:cNvSpPr/>
          <p:nvPr/>
        </p:nvSpPr>
        <p:spPr>
          <a:xfrm>
            <a:off x="12065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Latência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média, p50 e p95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8693C71-D55C-CD19-BE7B-1EC248E1998F}"/>
              </a:ext>
            </a:extLst>
          </p:cNvPr>
          <p:cNvSpPr/>
          <p:nvPr/>
        </p:nvSpPr>
        <p:spPr>
          <a:xfrm>
            <a:off x="32893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Memória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pico e teórica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EB8AC05-A1E4-9381-C4FE-D5E84CCF94C3}"/>
              </a:ext>
            </a:extLst>
          </p:cNvPr>
          <p:cNvSpPr/>
          <p:nvPr/>
        </p:nvSpPr>
        <p:spPr>
          <a:xfrm>
            <a:off x="53721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FLOPs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custo analítico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929C2B4-592B-3535-F5CC-73666D9DBD8D}"/>
              </a:ext>
            </a:extLst>
          </p:cNvPr>
          <p:cNvSpPr/>
          <p:nvPr/>
        </p:nvSpPr>
        <p:spPr>
          <a:xfrm>
            <a:off x="74549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Qualidade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MSE, MAE, R², cosseno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6C03A03-9E85-C28F-1606-C558A4A0820C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Controle central: mesma semente, mesmos dados e mesmos pesos-base.</a:t>
            </a:r>
          </a:p>
        </p:txBody>
      </p:sp>
    </p:spTree>
    <p:extLst>
      <p:ext uri="{BB962C8B-B14F-4D97-AF65-F5344CB8AC3E}">
        <p14:creationId xmlns:p14="http://schemas.microsoft.com/office/powerpoint/2010/main" val="1822804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3926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RESULTADOS PARCIAIS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 código-base já implementa operações, métricas e cenários.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 pipeline está pronto para gerar benchmarks comparáveis.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A próxima etapa é executar os cenários e coletar os CSVs.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109DAE0-ADB1-967A-B996-372F14B2CCBB}"/>
              </a:ext>
            </a:extLst>
          </p:cNvPr>
          <p:cNvSpPr/>
          <p:nvPr/>
        </p:nvSpPr>
        <p:spPr>
          <a:xfrm>
            <a:off x="12065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Código-base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benchmark e métricas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094028A-6C8D-A265-1F79-4AFDD869502B}"/>
              </a:ext>
            </a:extLst>
          </p:cNvPr>
          <p:cNvSpPr/>
          <p:nvPr/>
        </p:nvSpPr>
        <p:spPr>
          <a:xfrm>
            <a:off x="32893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Cenários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base, pruning, INT8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AF1D774-2ADB-16D2-5244-3F51B2157690}"/>
              </a:ext>
            </a:extLst>
          </p:cNvPr>
          <p:cNvSpPr/>
          <p:nvPr/>
        </p:nvSpPr>
        <p:spPr>
          <a:xfrm>
            <a:off x="53721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Métricas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latência, memória, erro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3218EF7-E084-5E74-CFDE-C945F3D47138}"/>
              </a:ext>
            </a:extLst>
          </p:cNvPr>
          <p:cNvSpPr/>
          <p:nvPr/>
        </p:nvSpPr>
        <p:spPr>
          <a:xfrm>
            <a:off x="74549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Próxima etapa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execução e coleta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9666106-8323-9218-FAA4-44D5AC869E1A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Projeto em fase inicial, mas já tecnicamente estruturado.</a:t>
            </a:r>
          </a:p>
        </p:txBody>
      </p:sp>
    </p:spTree>
    <p:extLst>
      <p:ext uri="{BB962C8B-B14F-4D97-AF65-F5344CB8AC3E}">
        <p14:creationId xmlns:p14="http://schemas.microsoft.com/office/powerpoint/2010/main" val="1900539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3512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EVIDÊNCIAS DA LITERATURA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Dados publicados já sugerem grande redução de memória com quantização.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Esses resultados reforçam a hipótese inicial do trabalho.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26232C7-F4C9-6959-272C-1B717CFDFE15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3048000"/>
            <a:ext cx="8763000" cy="2794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166A8CE-2128-64FD-55E7-BF2D8E9290CD}"/>
              </a:ext>
            </a:extLst>
          </p:cNvPr>
          <p:cNvSpPr txBox="1"/>
          <p:nvPr/>
        </p:nvSpPr>
        <p:spPr>
          <a:xfrm>
            <a:off x="939800" y="5867400"/>
            <a:ext cx="863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Figura adaptada do Google Research Blog, 24/03/2026. Não representa resultado deste trabalho.</a:t>
            </a:r>
          </a:p>
        </p:txBody>
      </p:sp>
    </p:spTree>
    <p:extLst>
      <p:ext uri="{BB962C8B-B14F-4D97-AF65-F5344CB8AC3E}">
        <p14:creationId xmlns:p14="http://schemas.microsoft.com/office/powerpoint/2010/main" val="348860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7174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CONCLUSÕES</a:t>
            </a:r>
            <a:endParaRPr sz="28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06992"/>
            <a:ext cx="87902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9409" y="1495327"/>
            <a:ext cx="7839857" cy="256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 projeto ataca um problema real de inferência em Transformers.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Quantização é hoje a hipótese inicial mais forte.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>
                <a:latin typeface="Arial" panose="020B0604020202020204" pitchFamily="34" charset="0"/>
              </a:rPr>
              <a:t>O próximo passo é validar essa hipótese com benchmarks próprios.</a:t>
            </a:r>
            <a:endParaRPr sz="2200"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DCAAEDCA-5BC2-868B-B898-4DFFDDEB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4" name="Picture 13" descr="fatec_ra_baixada_santista_baixada_santista_rubens_lara_cor.png">
            <a:extLst>
              <a:ext uri="{FF2B5EF4-FFF2-40B4-BE49-F238E27FC236}">
                <a16:creationId xmlns:a16="http://schemas.microsoft.com/office/drawing/2014/main" id="{4EF2ED9A-FCF3-7342-5A0D-09C141B26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CA1862F-3920-E68C-6981-B5672148E0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6" name="Picture 15" descr="LOGO-SP-PT-HORIZONTAL.png">
            <a:extLst>
              <a:ext uri="{FF2B5EF4-FFF2-40B4-BE49-F238E27FC236}">
                <a16:creationId xmlns:a16="http://schemas.microsoft.com/office/drawing/2014/main" id="{29F7F173-EB9C-EA99-973F-8FD1CEFD9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84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CF223-B7D5-3C79-2F98-18838114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DEE0A5-2622-6344-EF04-68EEAB930558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8ACF2-7206-91E1-039E-92E3D189B38C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620FE-0712-832F-2CBE-8F4D8C1A1D62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CFB53-5DB2-E441-0281-CD14A5C6F289}"/>
              </a:ext>
            </a:extLst>
          </p:cNvPr>
          <p:cNvSpPr txBox="1"/>
          <p:nvPr/>
        </p:nvSpPr>
        <p:spPr>
          <a:xfrm>
            <a:off x="548640" y="457200"/>
            <a:ext cx="27574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00285A"/>
                </a:solidFill>
                <a:latin typeface="Arial"/>
              </a:rPr>
              <a:t>REFERÊNCIAS</a:t>
            </a:r>
            <a:endParaRPr sz="28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510F56-8D51-09E9-0903-555AB0C408B2}"/>
              </a:ext>
            </a:extLst>
          </p:cNvPr>
          <p:cNvSpPr/>
          <p:nvPr/>
        </p:nvSpPr>
        <p:spPr>
          <a:xfrm>
            <a:off x="548640" y="1106992"/>
            <a:ext cx="93898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272FF-31C7-500F-95E5-423CCBD8B79E}"/>
              </a:ext>
            </a:extLst>
          </p:cNvPr>
          <p:cNvSpPr txBox="1"/>
          <p:nvPr/>
        </p:nvSpPr>
        <p:spPr>
          <a:xfrm>
            <a:off x="899409" y="1495327"/>
            <a:ext cx="7839857" cy="256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 noProof="0">
                <a:latin typeface="Arial" panose="020B0604020202020204" pitchFamily="34" charset="0"/>
              </a:rPr>
              <a:t>Vaswani et al. Attention Is All You Need. 2017.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 noProof="0">
                <a:latin typeface="Arial" panose="020B0604020202020204" pitchFamily="34" charset="0"/>
              </a:rPr>
              <a:t>Tang et al. A Survey on Transformer Compression.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 noProof="0">
                <a:latin typeface="Arial" panose="020B0604020202020204" pitchFamily="34" charset="0"/>
              </a:rPr>
              <a:t>Bibi et al. Pruning and Quantization for NLP.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 noProof="0">
                <a:latin typeface="Arial" panose="020B0604020202020204" pitchFamily="34" charset="0"/>
              </a:rPr>
              <a:t>Google Research Blog. TurboQuant. 24 mar. 2026.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200" noProof="0">
                <a:latin typeface="Arial" panose="020B0604020202020204" pitchFamily="34" charset="0"/>
              </a:rPr>
              <a:t>Zandieh et al. TurboQuant. arXiv:2504.19874, 2025.</a:t>
            </a:r>
            <a:endParaRPr lang="pt-BR" sz="2200" noProof="0" dirty="0">
              <a:latin typeface="Arial" panose="020B0604020202020204" pitchFamily="34" charset="0"/>
            </a:endParaRPr>
          </a:p>
        </p:txBody>
      </p:sp>
      <p:pic>
        <p:nvPicPr>
          <p:cNvPr id="9" name="Picture 8" descr="fatec_ra_baixada_santista_baixada_santista_rubens_lara_cor.png">
            <a:extLst>
              <a:ext uri="{FF2B5EF4-FFF2-40B4-BE49-F238E27FC236}">
                <a16:creationId xmlns:a16="http://schemas.microsoft.com/office/drawing/2014/main" id="{6657C4D2-96CF-82E4-2B57-5C87D8385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321" y="2329489"/>
            <a:ext cx="1972521" cy="1070536"/>
          </a:xfrm>
          <a:prstGeom prst="rect">
            <a:avLst/>
          </a:prstGeom>
        </p:spPr>
      </p:pic>
      <p:pic>
        <p:nvPicPr>
          <p:cNvPr id="10" name="Picture 9" descr="logo_simposio_autalizado copy.png">
            <a:extLst>
              <a:ext uri="{FF2B5EF4-FFF2-40B4-BE49-F238E27FC236}">
                <a16:creationId xmlns:a16="http://schemas.microsoft.com/office/drawing/2014/main" id="{FDAA8367-43FC-29AE-70A6-277F2C28E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7D2A2F6-4DFD-EA0D-5F4E-27F7DEA26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4" name="Picture 13" descr="LOGO-SP-PT-HORIZONTAL.png">
            <a:extLst>
              <a:ext uri="{FF2B5EF4-FFF2-40B4-BE49-F238E27FC236}">
                <a16:creationId xmlns:a16="http://schemas.microsoft.com/office/drawing/2014/main" id="{E5A9E87F-09BB-140E-74C5-5FAF6667A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13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4FB5B-5E4C-8486-7073-B8FC4C1A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E0785-902D-2971-436A-141429C13932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AC71E-F7AF-41C1-1AD8-A5FA979A8B1A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AED13-FD7E-53FB-11A5-E917BD7AAA8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simposio_autalizado copy.png">
            <a:extLst>
              <a:ext uri="{FF2B5EF4-FFF2-40B4-BE49-F238E27FC236}">
                <a16:creationId xmlns:a16="http://schemas.microsoft.com/office/drawing/2014/main" id="{EC6AFCF6-C77F-24B5-EA20-4380A909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22BFB0-6DD2-7534-7C40-F058115854F0}"/>
              </a:ext>
            </a:extLst>
          </p:cNvPr>
          <p:cNvSpPr txBox="1"/>
          <p:nvPr/>
        </p:nvSpPr>
        <p:spPr>
          <a:xfrm>
            <a:off x="1484026" y="2834640"/>
            <a:ext cx="884869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400" b="1">
                <a:latin typeface="Arial"/>
              </a:rPr>
              <a:t>OBRIGADO!</a:t>
            </a:r>
            <a:endParaRPr sz="3400" b="1" dirty="0"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09F60-BB90-F93B-D304-38C347C27FF8}"/>
              </a:ext>
            </a:extLst>
          </p:cNvPr>
          <p:cNvSpPr txBox="1"/>
          <p:nvPr/>
        </p:nvSpPr>
        <p:spPr>
          <a:xfrm>
            <a:off x="1618938" y="3657600"/>
            <a:ext cx="84394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200">
                <a:latin typeface="Arial"/>
              </a:rPr>
              <a:t>Perguntas e discussão</a:t>
            </a:r>
            <a:endParaRPr sz="2200" dirty="0">
              <a:latin typeface="Arial"/>
            </a:endParaRPr>
          </a:p>
        </p:txBody>
      </p:sp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382589CE-4468-C1A9-5D00-930B3B60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50049A0-D96F-520F-3F6B-C07367FBB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6252AAE9-A2C3-2BAD-E999-9F030C462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05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906</Words>
  <Application>Microsoft Office PowerPoint</Application>
  <PresentationFormat>Personalizar</PresentationFormat>
  <Paragraphs>150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Galvao</cp:lastModifiedBy>
  <cp:revision>4</cp:revision>
  <dcterms:created xsi:type="dcterms:W3CDTF">2013-01-27T09:14:16Z</dcterms:created>
  <dcterms:modified xsi:type="dcterms:W3CDTF">2026-05-25T21:11:47Z</dcterms:modified>
  <cp:category/>
</cp:coreProperties>
</file>